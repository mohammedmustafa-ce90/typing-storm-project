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67700" y="0"/>
            <a:ext cx="10020300" cy="10287000"/>
          </a:xfrm>
          <a:custGeom>
            <a:avLst/>
            <a:gdLst/>
            <a:ahLst/>
            <a:cxnLst/>
            <a:rect l="l" t="t" r="r" b="b"/>
            <a:pathLst>
              <a:path w="10020300" h="10287000">
                <a:moveTo>
                  <a:pt x="0" y="10286999"/>
                </a:moveTo>
                <a:lnTo>
                  <a:pt x="10020298" y="10286999"/>
                </a:lnTo>
                <a:lnTo>
                  <a:pt x="10020298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E7D9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267700" cy="10287000"/>
          </a:xfrm>
          <a:custGeom>
            <a:avLst/>
            <a:gdLst/>
            <a:ahLst/>
            <a:cxnLst/>
            <a:rect l="l" t="t" r="r" b="b"/>
            <a:pathLst>
              <a:path w="8267700" h="10287000">
                <a:moveTo>
                  <a:pt x="82676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267699" y="0"/>
                </a:lnTo>
                <a:lnTo>
                  <a:pt x="8267699" y="10286999"/>
                </a:lnTo>
                <a:close/>
              </a:path>
            </a:pathLst>
          </a:custGeom>
          <a:solidFill>
            <a:srgbClr val="7566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83700" y="587406"/>
            <a:ext cx="5621019" cy="469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0" i="0">
                <a:solidFill>
                  <a:srgbClr val="F9F7F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7D9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F9F7F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566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F9F7F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0" i="0">
                <a:solidFill>
                  <a:srgbClr val="F9F7F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606456"/>
            <a:ext cx="13843635" cy="132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0" i="0">
                <a:solidFill>
                  <a:srgbClr val="F9F7F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83700" y="5677589"/>
            <a:ext cx="6706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Performance</a:t>
            </a:r>
            <a:r>
              <a:rPr sz="2400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15" dirty="0">
                <a:solidFill>
                  <a:srgbClr val="17120A"/>
                </a:solidFill>
                <a:latin typeface="Verdana"/>
                <a:cs typeface="Verdana"/>
              </a:rPr>
              <a:t>evaluation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and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17120A"/>
                </a:solidFill>
                <a:latin typeface="Verdana"/>
                <a:cs typeface="Verdana"/>
              </a:rPr>
              <a:t>cognitive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17120A"/>
                </a:solidFill>
                <a:latin typeface="Verdana"/>
                <a:cs typeface="Verdana"/>
              </a:rPr>
              <a:t>development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07340" rIns="0" bIns="0" rtlCol="0">
            <a:spAutoFit/>
          </a:bodyPr>
          <a:lstStyle/>
          <a:p>
            <a:pPr marL="12700" marR="5080">
              <a:lnSpc>
                <a:spcPts val="11470"/>
              </a:lnSpc>
              <a:spcBef>
                <a:spcPts val="2420"/>
              </a:spcBef>
            </a:pPr>
            <a:r>
              <a:rPr sz="11500" spc="-10" dirty="0">
                <a:solidFill>
                  <a:srgbClr val="17120A"/>
                </a:solidFill>
              </a:rPr>
              <a:t>Adaptive </a:t>
            </a:r>
            <a:r>
              <a:rPr sz="11500" spc="-1550" dirty="0">
                <a:solidFill>
                  <a:srgbClr val="17120A"/>
                </a:solidFill>
              </a:rPr>
              <a:t>T</a:t>
            </a:r>
            <a:r>
              <a:rPr sz="11500" spc="-270" dirty="0">
                <a:solidFill>
                  <a:srgbClr val="17120A"/>
                </a:solidFill>
              </a:rPr>
              <a:t>y</a:t>
            </a:r>
            <a:r>
              <a:rPr sz="11500" spc="-250" dirty="0">
                <a:solidFill>
                  <a:srgbClr val="17120A"/>
                </a:solidFill>
              </a:rPr>
              <a:t>p</a:t>
            </a:r>
            <a:r>
              <a:rPr sz="11500" spc="-280" dirty="0">
                <a:solidFill>
                  <a:srgbClr val="17120A"/>
                </a:solidFill>
              </a:rPr>
              <a:t>i</a:t>
            </a:r>
            <a:r>
              <a:rPr sz="11500" spc="-250" dirty="0">
                <a:solidFill>
                  <a:srgbClr val="17120A"/>
                </a:solidFill>
              </a:rPr>
              <a:t>n</a:t>
            </a:r>
            <a:r>
              <a:rPr sz="11500" spc="-20" dirty="0">
                <a:solidFill>
                  <a:srgbClr val="17120A"/>
                </a:solidFill>
              </a:rPr>
              <a:t>g</a:t>
            </a:r>
            <a:r>
              <a:rPr sz="11500" spc="-440" dirty="0">
                <a:solidFill>
                  <a:srgbClr val="17120A"/>
                </a:solidFill>
              </a:rPr>
              <a:t> </a:t>
            </a:r>
            <a:r>
              <a:rPr sz="11500" spc="-270" dirty="0">
                <a:solidFill>
                  <a:srgbClr val="17120A"/>
                </a:solidFill>
              </a:rPr>
              <a:t>Systems</a:t>
            </a:r>
            <a:endParaRPr sz="115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666750"/>
            <a:ext cx="6886574" cy="8953499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7566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38174" y="3324224"/>
            <a:ext cx="5505450" cy="6324600"/>
            <a:chOff x="638174" y="3324224"/>
            <a:chExt cx="5505450" cy="6324600"/>
          </a:xfrm>
        </p:grpSpPr>
        <p:sp>
          <p:nvSpPr>
            <p:cNvPr id="4" name="object 4"/>
            <p:cNvSpPr/>
            <p:nvPr/>
          </p:nvSpPr>
          <p:spPr>
            <a:xfrm>
              <a:off x="666750" y="3352799"/>
              <a:ext cx="5448300" cy="6257290"/>
            </a:xfrm>
            <a:custGeom>
              <a:avLst/>
              <a:gdLst/>
              <a:ahLst/>
              <a:cxnLst/>
              <a:rect l="l" t="t" r="r" b="b"/>
              <a:pathLst>
                <a:path w="5448300" h="6257290">
                  <a:moveTo>
                    <a:pt x="5154646" y="6257031"/>
                  </a:moveTo>
                  <a:lnTo>
                    <a:pt x="293653" y="6257031"/>
                  </a:lnTo>
                  <a:lnTo>
                    <a:pt x="287187" y="6255813"/>
                  </a:lnTo>
                  <a:lnTo>
                    <a:pt x="243296" y="6241804"/>
                  </a:lnTo>
                  <a:lnTo>
                    <a:pt x="201890" y="6222809"/>
                  </a:lnTo>
                  <a:lnTo>
                    <a:pt x="163326" y="6199187"/>
                  </a:lnTo>
                  <a:lnTo>
                    <a:pt x="127962" y="6171294"/>
                  </a:lnTo>
                  <a:lnTo>
                    <a:pt x="96155" y="6139487"/>
                  </a:lnTo>
                  <a:lnTo>
                    <a:pt x="68262" y="6104123"/>
                  </a:lnTo>
                  <a:lnTo>
                    <a:pt x="44640" y="6065559"/>
                  </a:lnTo>
                  <a:lnTo>
                    <a:pt x="25645" y="6024153"/>
                  </a:lnTo>
                  <a:lnTo>
                    <a:pt x="11636" y="5980262"/>
                  </a:lnTo>
                  <a:lnTo>
                    <a:pt x="2968" y="5934241"/>
                  </a:lnTo>
                  <a:lnTo>
                    <a:pt x="0" y="5886449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067299" y="0"/>
                  </a:lnTo>
                  <a:lnTo>
                    <a:pt x="5115091" y="2968"/>
                  </a:lnTo>
                  <a:lnTo>
                    <a:pt x="5161111" y="11636"/>
                  </a:lnTo>
                  <a:lnTo>
                    <a:pt x="5205003" y="25645"/>
                  </a:lnTo>
                  <a:lnTo>
                    <a:pt x="5246409" y="44640"/>
                  </a:lnTo>
                  <a:lnTo>
                    <a:pt x="5284973" y="68262"/>
                  </a:lnTo>
                  <a:lnTo>
                    <a:pt x="5320337" y="96155"/>
                  </a:lnTo>
                  <a:lnTo>
                    <a:pt x="5352144" y="127962"/>
                  </a:lnTo>
                  <a:lnTo>
                    <a:pt x="5380037" y="163326"/>
                  </a:lnTo>
                  <a:lnTo>
                    <a:pt x="5403659" y="201889"/>
                  </a:lnTo>
                  <a:lnTo>
                    <a:pt x="5422654" y="243296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1000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3" y="5980262"/>
                  </a:lnTo>
                  <a:lnTo>
                    <a:pt x="5422654" y="6024153"/>
                  </a:lnTo>
                  <a:lnTo>
                    <a:pt x="5403659" y="6065559"/>
                  </a:lnTo>
                  <a:lnTo>
                    <a:pt x="5380037" y="6104123"/>
                  </a:lnTo>
                  <a:lnTo>
                    <a:pt x="5352144" y="6139487"/>
                  </a:lnTo>
                  <a:lnTo>
                    <a:pt x="5320337" y="6171294"/>
                  </a:lnTo>
                  <a:lnTo>
                    <a:pt x="5284973" y="6199187"/>
                  </a:lnTo>
                  <a:lnTo>
                    <a:pt x="5246409" y="6222809"/>
                  </a:lnTo>
                  <a:lnTo>
                    <a:pt x="5205003" y="6241804"/>
                  </a:lnTo>
                  <a:lnTo>
                    <a:pt x="5161111" y="6255813"/>
                  </a:lnTo>
                  <a:lnTo>
                    <a:pt x="5154646" y="6257031"/>
                  </a:lnTo>
                  <a:close/>
                </a:path>
              </a:pathLst>
            </a:custGeom>
            <a:solidFill>
              <a:srgbClr val="E7D9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6749" y="3352799"/>
              <a:ext cx="5448300" cy="6267450"/>
            </a:xfrm>
            <a:custGeom>
              <a:avLst/>
              <a:gdLst/>
              <a:ahLst/>
              <a:cxnLst/>
              <a:rect l="l" t="t" r="r" b="b"/>
              <a:pathLst>
                <a:path w="5448300" h="6267450">
                  <a:moveTo>
                    <a:pt x="380999" y="0"/>
                  </a:moveTo>
                  <a:lnTo>
                    <a:pt x="5067299" y="0"/>
                  </a:lnTo>
                  <a:lnTo>
                    <a:pt x="5115091" y="2968"/>
                  </a:lnTo>
                  <a:lnTo>
                    <a:pt x="5161111" y="11636"/>
                  </a:lnTo>
                  <a:lnTo>
                    <a:pt x="5205003" y="25645"/>
                  </a:lnTo>
                  <a:lnTo>
                    <a:pt x="5246409" y="44639"/>
                  </a:lnTo>
                  <a:lnTo>
                    <a:pt x="5284972" y="68262"/>
                  </a:lnTo>
                  <a:lnTo>
                    <a:pt x="5320336" y="96155"/>
                  </a:lnTo>
                  <a:lnTo>
                    <a:pt x="5352143" y="127962"/>
                  </a:lnTo>
                  <a:lnTo>
                    <a:pt x="5380036" y="163326"/>
                  </a:lnTo>
                  <a:lnTo>
                    <a:pt x="5403659" y="201889"/>
                  </a:lnTo>
                  <a:lnTo>
                    <a:pt x="5422653" y="243295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0999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3" y="5980261"/>
                  </a:lnTo>
                  <a:lnTo>
                    <a:pt x="5422654" y="6024153"/>
                  </a:lnTo>
                  <a:lnTo>
                    <a:pt x="5403659" y="6065559"/>
                  </a:lnTo>
                  <a:lnTo>
                    <a:pt x="5380037" y="6104122"/>
                  </a:lnTo>
                  <a:lnTo>
                    <a:pt x="5352143" y="6139486"/>
                  </a:lnTo>
                  <a:lnTo>
                    <a:pt x="5320336" y="6171293"/>
                  </a:lnTo>
                  <a:lnTo>
                    <a:pt x="5284973" y="6199187"/>
                  </a:lnTo>
                  <a:lnTo>
                    <a:pt x="5246409" y="6222809"/>
                  </a:lnTo>
                  <a:lnTo>
                    <a:pt x="5205003" y="6241803"/>
                  </a:lnTo>
                  <a:lnTo>
                    <a:pt x="5161111" y="6255813"/>
                  </a:lnTo>
                  <a:lnTo>
                    <a:pt x="5115091" y="6264481"/>
                  </a:lnTo>
                  <a:lnTo>
                    <a:pt x="5067299" y="6267449"/>
                  </a:lnTo>
                  <a:lnTo>
                    <a:pt x="380999" y="6267449"/>
                  </a:lnTo>
                  <a:lnTo>
                    <a:pt x="333208" y="6264481"/>
                  </a:lnTo>
                  <a:lnTo>
                    <a:pt x="287187" y="6255813"/>
                  </a:lnTo>
                  <a:lnTo>
                    <a:pt x="243295" y="6241803"/>
                  </a:lnTo>
                  <a:lnTo>
                    <a:pt x="201889" y="6222809"/>
                  </a:lnTo>
                  <a:lnTo>
                    <a:pt x="163326" y="6199186"/>
                  </a:lnTo>
                  <a:lnTo>
                    <a:pt x="127962" y="6171293"/>
                  </a:lnTo>
                  <a:lnTo>
                    <a:pt x="96155" y="6139486"/>
                  </a:lnTo>
                  <a:lnTo>
                    <a:pt x="68262" y="6104122"/>
                  </a:lnTo>
                  <a:lnTo>
                    <a:pt x="44639" y="6065559"/>
                  </a:lnTo>
                  <a:lnTo>
                    <a:pt x="25645" y="6024153"/>
                  </a:lnTo>
                  <a:lnTo>
                    <a:pt x="11636" y="5980261"/>
                  </a:lnTo>
                  <a:lnTo>
                    <a:pt x="2968" y="5934240"/>
                  </a:lnTo>
                  <a:lnTo>
                    <a:pt x="0" y="588644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391275" y="3324224"/>
            <a:ext cx="5505450" cy="6324600"/>
            <a:chOff x="6391275" y="3324224"/>
            <a:chExt cx="5505450" cy="6324600"/>
          </a:xfrm>
        </p:grpSpPr>
        <p:sp>
          <p:nvSpPr>
            <p:cNvPr id="7" name="object 7"/>
            <p:cNvSpPr/>
            <p:nvPr/>
          </p:nvSpPr>
          <p:spPr>
            <a:xfrm>
              <a:off x="6419849" y="3352799"/>
              <a:ext cx="5448300" cy="6257290"/>
            </a:xfrm>
            <a:custGeom>
              <a:avLst/>
              <a:gdLst/>
              <a:ahLst/>
              <a:cxnLst/>
              <a:rect l="l" t="t" r="r" b="b"/>
              <a:pathLst>
                <a:path w="5448300" h="6257290">
                  <a:moveTo>
                    <a:pt x="5154646" y="6257031"/>
                  </a:moveTo>
                  <a:lnTo>
                    <a:pt x="293653" y="6257031"/>
                  </a:lnTo>
                  <a:lnTo>
                    <a:pt x="287187" y="6255813"/>
                  </a:lnTo>
                  <a:lnTo>
                    <a:pt x="243296" y="6241804"/>
                  </a:lnTo>
                  <a:lnTo>
                    <a:pt x="201890" y="6222809"/>
                  </a:lnTo>
                  <a:lnTo>
                    <a:pt x="163326" y="6199187"/>
                  </a:lnTo>
                  <a:lnTo>
                    <a:pt x="127962" y="6171294"/>
                  </a:lnTo>
                  <a:lnTo>
                    <a:pt x="96155" y="6139487"/>
                  </a:lnTo>
                  <a:lnTo>
                    <a:pt x="68262" y="6104123"/>
                  </a:lnTo>
                  <a:lnTo>
                    <a:pt x="44640" y="6065559"/>
                  </a:lnTo>
                  <a:lnTo>
                    <a:pt x="25645" y="6024153"/>
                  </a:lnTo>
                  <a:lnTo>
                    <a:pt x="11636" y="5980262"/>
                  </a:lnTo>
                  <a:lnTo>
                    <a:pt x="2968" y="5934241"/>
                  </a:lnTo>
                  <a:lnTo>
                    <a:pt x="0" y="5886449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067300" y="0"/>
                  </a:lnTo>
                  <a:lnTo>
                    <a:pt x="5115091" y="2968"/>
                  </a:lnTo>
                  <a:lnTo>
                    <a:pt x="5161112" y="11636"/>
                  </a:lnTo>
                  <a:lnTo>
                    <a:pt x="5205003" y="25645"/>
                  </a:lnTo>
                  <a:lnTo>
                    <a:pt x="5246410" y="44640"/>
                  </a:lnTo>
                  <a:lnTo>
                    <a:pt x="5284973" y="68262"/>
                  </a:lnTo>
                  <a:lnTo>
                    <a:pt x="5320337" y="96155"/>
                  </a:lnTo>
                  <a:lnTo>
                    <a:pt x="5352144" y="127962"/>
                  </a:lnTo>
                  <a:lnTo>
                    <a:pt x="5380037" y="163326"/>
                  </a:lnTo>
                  <a:lnTo>
                    <a:pt x="5403659" y="201889"/>
                  </a:lnTo>
                  <a:lnTo>
                    <a:pt x="5422654" y="243296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1000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3" y="5980262"/>
                  </a:lnTo>
                  <a:lnTo>
                    <a:pt x="5422654" y="6024153"/>
                  </a:lnTo>
                  <a:lnTo>
                    <a:pt x="5403659" y="6065559"/>
                  </a:lnTo>
                  <a:lnTo>
                    <a:pt x="5380037" y="6104123"/>
                  </a:lnTo>
                  <a:lnTo>
                    <a:pt x="5352144" y="6139487"/>
                  </a:lnTo>
                  <a:lnTo>
                    <a:pt x="5320337" y="6171294"/>
                  </a:lnTo>
                  <a:lnTo>
                    <a:pt x="5284973" y="6199187"/>
                  </a:lnTo>
                  <a:lnTo>
                    <a:pt x="5246410" y="6222809"/>
                  </a:lnTo>
                  <a:lnTo>
                    <a:pt x="5205003" y="6241804"/>
                  </a:lnTo>
                  <a:lnTo>
                    <a:pt x="5161112" y="6255813"/>
                  </a:lnTo>
                  <a:lnTo>
                    <a:pt x="5154646" y="6257031"/>
                  </a:lnTo>
                  <a:close/>
                </a:path>
              </a:pathLst>
            </a:custGeom>
            <a:solidFill>
              <a:srgbClr val="E7D9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9849" y="3352799"/>
              <a:ext cx="5448300" cy="6267450"/>
            </a:xfrm>
            <a:custGeom>
              <a:avLst/>
              <a:gdLst/>
              <a:ahLst/>
              <a:cxnLst/>
              <a:rect l="l" t="t" r="r" b="b"/>
              <a:pathLst>
                <a:path w="5448300" h="6267450">
                  <a:moveTo>
                    <a:pt x="380999" y="0"/>
                  </a:moveTo>
                  <a:lnTo>
                    <a:pt x="5067299" y="0"/>
                  </a:lnTo>
                  <a:lnTo>
                    <a:pt x="5115091" y="2968"/>
                  </a:lnTo>
                  <a:lnTo>
                    <a:pt x="5161111" y="11635"/>
                  </a:lnTo>
                  <a:lnTo>
                    <a:pt x="5205003" y="25645"/>
                  </a:lnTo>
                  <a:lnTo>
                    <a:pt x="5246409" y="44639"/>
                  </a:lnTo>
                  <a:lnTo>
                    <a:pt x="5284972" y="68262"/>
                  </a:lnTo>
                  <a:lnTo>
                    <a:pt x="5320336" y="96155"/>
                  </a:lnTo>
                  <a:lnTo>
                    <a:pt x="5352143" y="127962"/>
                  </a:lnTo>
                  <a:lnTo>
                    <a:pt x="5380036" y="163326"/>
                  </a:lnTo>
                  <a:lnTo>
                    <a:pt x="5403659" y="201889"/>
                  </a:lnTo>
                  <a:lnTo>
                    <a:pt x="5422653" y="243295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0999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3" y="5980261"/>
                  </a:lnTo>
                  <a:lnTo>
                    <a:pt x="5422654" y="6024153"/>
                  </a:lnTo>
                  <a:lnTo>
                    <a:pt x="5403659" y="6065559"/>
                  </a:lnTo>
                  <a:lnTo>
                    <a:pt x="5380037" y="6104122"/>
                  </a:lnTo>
                  <a:lnTo>
                    <a:pt x="5352143" y="6139486"/>
                  </a:lnTo>
                  <a:lnTo>
                    <a:pt x="5320336" y="6171293"/>
                  </a:lnTo>
                  <a:lnTo>
                    <a:pt x="5284972" y="6199187"/>
                  </a:lnTo>
                  <a:lnTo>
                    <a:pt x="5246409" y="6222809"/>
                  </a:lnTo>
                  <a:lnTo>
                    <a:pt x="5205003" y="6241804"/>
                  </a:lnTo>
                  <a:lnTo>
                    <a:pt x="5161111" y="6255813"/>
                  </a:lnTo>
                  <a:lnTo>
                    <a:pt x="5115091" y="6264481"/>
                  </a:lnTo>
                  <a:lnTo>
                    <a:pt x="5067299" y="6267449"/>
                  </a:lnTo>
                  <a:lnTo>
                    <a:pt x="380999" y="6267449"/>
                  </a:lnTo>
                  <a:lnTo>
                    <a:pt x="333207" y="6264480"/>
                  </a:lnTo>
                  <a:lnTo>
                    <a:pt x="287187" y="6255813"/>
                  </a:lnTo>
                  <a:lnTo>
                    <a:pt x="243295" y="6241803"/>
                  </a:lnTo>
                  <a:lnTo>
                    <a:pt x="201889" y="6222809"/>
                  </a:lnTo>
                  <a:lnTo>
                    <a:pt x="163326" y="6199186"/>
                  </a:lnTo>
                  <a:lnTo>
                    <a:pt x="127962" y="6171293"/>
                  </a:lnTo>
                  <a:lnTo>
                    <a:pt x="96155" y="6139486"/>
                  </a:lnTo>
                  <a:lnTo>
                    <a:pt x="68262" y="6104122"/>
                  </a:lnTo>
                  <a:lnTo>
                    <a:pt x="44639" y="6065559"/>
                  </a:lnTo>
                  <a:lnTo>
                    <a:pt x="25645" y="6024152"/>
                  </a:lnTo>
                  <a:lnTo>
                    <a:pt x="11635" y="5980261"/>
                  </a:lnTo>
                  <a:lnTo>
                    <a:pt x="2968" y="5934240"/>
                  </a:lnTo>
                  <a:lnTo>
                    <a:pt x="0" y="588644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5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2144375" y="3324224"/>
            <a:ext cx="5505450" cy="6324600"/>
            <a:chOff x="12144375" y="3324224"/>
            <a:chExt cx="5505450" cy="6324600"/>
          </a:xfrm>
        </p:grpSpPr>
        <p:sp>
          <p:nvSpPr>
            <p:cNvPr id="10" name="object 10"/>
            <p:cNvSpPr/>
            <p:nvPr/>
          </p:nvSpPr>
          <p:spPr>
            <a:xfrm>
              <a:off x="12172949" y="3352799"/>
              <a:ext cx="5448300" cy="6257290"/>
            </a:xfrm>
            <a:custGeom>
              <a:avLst/>
              <a:gdLst/>
              <a:ahLst/>
              <a:cxnLst/>
              <a:rect l="l" t="t" r="r" b="b"/>
              <a:pathLst>
                <a:path w="5448300" h="6257290">
                  <a:moveTo>
                    <a:pt x="5154646" y="6257031"/>
                  </a:moveTo>
                  <a:lnTo>
                    <a:pt x="293653" y="6257031"/>
                  </a:lnTo>
                  <a:lnTo>
                    <a:pt x="287188" y="6255813"/>
                  </a:lnTo>
                  <a:lnTo>
                    <a:pt x="243296" y="6241804"/>
                  </a:lnTo>
                  <a:lnTo>
                    <a:pt x="201890" y="6222809"/>
                  </a:lnTo>
                  <a:lnTo>
                    <a:pt x="163326" y="6199187"/>
                  </a:lnTo>
                  <a:lnTo>
                    <a:pt x="127962" y="6171294"/>
                  </a:lnTo>
                  <a:lnTo>
                    <a:pt x="96155" y="6139487"/>
                  </a:lnTo>
                  <a:lnTo>
                    <a:pt x="68262" y="6104123"/>
                  </a:lnTo>
                  <a:lnTo>
                    <a:pt x="44640" y="6065559"/>
                  </a:lnTo>
                  <a:lnTo>
                    <a:pt x="25645" y="6024153"/>
                  </a:lnTo>
                  <a:lnTo>
                    <a:pt x="11636" y="5980262"/>
                  </a:lnTo>
                  <a:lnTo>
                    <a:pt x="2968" y="5934241"/>
                  </a:lnTo>
                  <a:lnTo>
                    <a:pt x="0" y="5886449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8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067300" y="0"/>
                  </a:lnTo>
                  <a:lnTo>
                    <a:pt x="5115091" y="2968"/>
                  </a:lnTo>
                  <a:lnTo>
                    <a:pt x="5161112" y="11636"/>
                  </a:lnTo>
                  <a:lnTo>
                    <a:pt x="5205004" y="25645"/>
                  </a:lnTo>
                  <a:lnTo>
                    <a:pt x="5246410" y="44640"/>
                  </a:lnTo>
                  <a:lnTo>
                    <a:pt x="5284973" y="68262"/>
                  </a:lnTo>
                  <a:lnTo>
                    <a:pt x="5320337" y="96155"/>
                  </a:lnTo>
                  <a:lnTo>
                    <a:pt x="5352144" y="127962"/>
                  </a:lnTo>
                  <a:lnTo>
                    <a:pt x="5380037" y="163326"/>
                  </a:lnTo>
                  <a:lnTo>
                    <a:pt x="5403660" y="201889"/>
                  </a:lnTo>
                  <a:lnTo>
                    <a:pt x="5422654" y="243296"/>
                  </a:lnTo>
                  <a:lnTo>
                    <a:pt x="5436664" y="287187"/>
                  </a:lnTo>
                  <a:lnTo>
                    <a:pt x="5445331" y="333208"/>
                  </a:lnTo>
                  <a:lnTo>
                    <a:pt x="5448299" y="381000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4" y="5980262"/>
                  </a:lnTo>
                  <a:lnTo>
                    <a:pt x="5422654" y="6024153"/>
                  </a:lnTo>
                  <a:lnTo>
                    <a:pt x="5403660" y="6065559"/>
                  </a:lnTo>
                  <a:lnTo>
                    <a:pt x="5380037" y="6104123"/>
                  </a:lnTo>
                  <a:lnTo>
                    <a:pt x="5352144" y="6139487"/>
                  </a:lnTo>
                  <a:lnTo>
                    <a:pt x="5320337" y="6171294"/>
                  </a:lnTo>
                  <a:lnTo>
                    <a:pt x="5284973" y="6199187"/>
                  </a:lnTo>
                  <a:lnTo>
                    <a:pt x="5246410" y="6222809"/>
                  </a:lnTo>
                  <a:lnTo>
                    <a:pt x="5205004" y="6241804"/>
                  </a:lnTo>
                  <a:lnTo>
                    <a:pt x="5161112" y="6255813"/>
                  </a:lnTo>
                  <a:lnTo>
                    <a:pt x="5154646" y="6257031"/>
                  </a:lnTo>
                  <a:close/>
                </a:path>
              </a:pathLst>
            </a:custGeom>
            <a:solidFill>
              <a:srgbClr val="E7D9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72949" y="3352799"/>
              <a:ext cx="5448300" cy="6267450"/>
            </a:xfrm>
            <a:custGeom>
              <a:avLst/>
              <a:gdLst/>
              <a:ahLst/>
              <a:cxnLst/>
              <a:rect l="l" t="t" r="r" b="b"/>
              <a:pathLst>
                <a:path w="5448300" h="6267450">
                  <a:moveTo>
                    <a:pt x="380999" y="0"/>
                  </a:moveTo>
                  <a:lnTo>
                    <a:pt x="5067299" y="0"/>
                  </a:lnTo>
                  <a:lnTo>
                    <a:pt x="5115090" y="2968"/>
                  </a:lnTo>
                  <a:lnTo>
                    <a:pt x="5161111" y="11635"/>
                  </a:lnTo>
                  <a:lnTo>
                    <a:pt x="5205002" y="25645"/>
                  </a:lnTo>
                  <a:lnTo>
                    <a:pt x="5246409" y="44639"/>
                  </a:lnTo>
                  <a:lnTo>
                    <a:pt x="5284972" y="68262"/>
                  </a:lnTo>
                  <a:lnTo>
                    <a:pt x="5320336" y="96155"/>
                  </a:lnTo>
                  <a:lnTo>
                    <a:pt x="5352143" y="127962"/>
                  </a:lnTo>
                  <a:lnTo>
                    <a:pt x="5380036" y="163326"/>
                  </a:lnTo>
                  <a:lnTo>
                    <a:pt x="5403659" y="201889"/>
                  </a:lnTo>
                  <a:lnTo>
                    <a:pt x="5422653" y="243295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0999"/>
                  </a:lnTo>
                  <a:lnTo>
                    <a:pt x="5448299" y="5886449"/>
                  </a:lnTo>
                  <a:lnTo>
                    <a:pt x="5445331" y="5934241"/>
                  </a:lnTo>
                  <a:lnTo>
                    <a:pt x="5436663" y="5980261"/>
                  </a:lnTo>
                  <a:lnTo>
                    <a:pt x="5422654" y="6024153"/>
                  </a:lnTo>
                  <a:lnTo>
                    <a:pt x="5403659" y="6065559"/>
                  </a:lnTo>
                  <a:lnTo>
                    <a:pt x="5380037" y="6104123"/>
                  </a:lnTo>
                  <a:lnTo>
                    <a:pt x="5352143" y="6139486"/>
                  </a:lnTo>
                  <a:lnTo>
                    <a:pt x="5320336" y="6171293"/>
                  </a:lnTo>
                  <a:lnTo>
                    <a:pt x="5284972" y="6199187"/>
                  </a:lnTo>
                  <a:lnTo>
                    <a:pt x="5246409" y="6222809"/>
                  </a:lnTo>
                  <a:lnTo>
                    <a:pt x="5205003" y="6241804"/>
                  </a:lnTo>
                  <a:lnTo>
                    <a:pt x="5161111" y="6255813"/>
                  </a:lnTo>
                  <a:lnTo>
                    <a:pt x="5115090" y="6264481"/>
                  </a:lnTo>
                  <a:lnTo>
                    <a:pt x="5067299" y="6267449"/>
                  </a:lnTo>
                  <a:lnTo>
                    <a:pt x="380999" y="6267449"/>
                  </a:lnTo>
                  <a:lnTo>
                    <a:pt x="333207" y="6264480"/>
                  </a:lnTo>
                  <a:lnTo>
                    <a:pt x="287187" y="6255813"/>
                  </a:lnTo>
                  <a:lnTo>
                    <a:pt x="243295" y="6241803"/>
                  </a:lnTo>
                  <a:lnTo>
                    <a:pt x="201889" y="6222809"/>
                  </a:lnTo>
                  <a:lnTo>
                    <a:pt x="163326" y="6199186"/>
                  </a:lnTo>
                  <a:lnTo>
                    <a:pt x="127962" y="6171293"/>
                  </a:lnTo>
                  <a:lnTo>
                    <a:pt x="96155" y="6139486"/>
                  </a:lnTo>
                  <a:lnTo>
                    <a:pt x="68262" y="6104122"/>
                  </a:lnTo>
                  <a:lnTo>
                    <a:pt x="44639" y="6065559"/>
                  </a:lnTo>
                  <a:lnTo>
                    <a:pt x="25645" y="6024152"/>
                  </a:lnTo>
                  <a:lnTo>
                    <a:pt x="11635" y="5980261"/>
                  </a:lnTo>
                  <a:lnTo>
                    <a:pt x="2968" y="5934240"/>
                  </a:lnTo>
                  <a:lnTo>
                    <a:pt x="0" y="588644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5" y="25645"/>
                  </a:lnTo>
                  <a:lnTo>
                    <a:pt x="287187" y="11636"/>
                  </a:lnTo>
                  <a:lnTo>
                    <a:pt x="333207" y="2968"/>
                  </a:lnTo>
                  <a:lnTo>
                    <a:pt x="380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9395">
              <a:lnSpc>
                <a:spcPct val="100000"/>
              </a:lnSpc>
              <a:spcBef>
                <a:spcPts val="100"/>
              </a:spcBef>
            </a:pPr>
            <a:r>
              <a:rPr spc="270" dirty="0">
                <a:solidFill>
                  <a:srgbClr val="17120A"/>
                </a:solidFill>
              </a:rPr>
              <a:t>HCI</a:t>
            </a:r>
            <a:r>
              <a:rPr spc="-175" dirty="0">
                <a:solidFill>
                  <a:srgbClr val="17120A"/>
                </a:solidFill>
              </a:rPr>
              <a:t> </a:t>
            </a:r>
            <a:r>
              <a:rPr spc="-65" dirty="0">
                <a:solidFill>
                  <a:srgbClr val="17120A"/>
                </a:solidFill>
              </a:rPr>
              <a:t>Roles</a:t>
            </a:r>
            <a:r>
              <a:rPr spc="-170" dirty="0">
                <a:solidFill>
                  <a:srgbClr val="17120A"/>
                </a:solidFill>
              </a:rPr>
              <a:t> </a:t>
            </a:r>
            <a:r>
              <a:rPr dirty="0">
                <a:solidFill>
                  <a:srgbClr val="17120A"/>
                </a:solidFill>
              </a:rPr>
              <a:t>in</a:t>
            </a:r>
            <a:r>
              <a:rPr spc="-175" dirty="0">
                <a:solidFill>
                  <a:srgbClr val="17120A"/>
                </a:solidFill>
              </a:rPr>
              <a:t> </a:t>
            </a:r>
            <a:r>
              <a:rPr spc="-1145" dirty="0">
                <a:solidFill>
                  <a:srgbClr val="17120A"/>
                </a:solidFill>
              </a:rPr>
              <a:t>T</a:t>
            </a:r>
            <a:r>
              <a:rPr spc="-204" dirty="0">
                <a:solidFill>
                  <a:srgbClr val="17120A"/>
                </a:solidFill>
              </a:rPr>
              <a:t>y</a:t>
            </a:r>
            <a:r>
              <a:rPr spc="-185" dirty="0">
                <a:solidFill>
                  <a:srgbClr val="17120A"/>
                </a:solidFill>
              </a:rPr>
              <a:t>p</a:t>
            </a:r>
            <a:r>
              <a:rPr spc="-210" dirty="0">
                <a:solidFill>
                  <a:srgbClr val="17120A"/>
                </a:solidFill>
              </a:rPr>
              <a:t>i</a:t>
            </a:r>
            <a:r>
              <a:rPr spc="-185" dirty="0">
                <a:solidFill>
                  <a:srgbClr val="17120A"/>
                </a:solidFill>
              </a:rPr>
              <a:t>n</a:t>
            </a:r>
            <a:r>
              <a:rPr spc="-15" dirty="0">
                <a:solidFill>
                  <a:srgbClr val="17120A"/>
                </a:solidFill>
              </a:rPr>
              <a:t>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92325" y="3806990"/>
            <a:ext cx="2134870" cy="2720975"/>
          </a:xfrm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0"/>
              </a:spcBef>
            </a:pPr>
            <a:r>
              <a:rPr sz="8000" spc="-25" dirty="0">
                <a:solidFill>
                  <a:srgbClr val="17120A"/>
                </a:solidFill>
                <a:latin typeface="Cambria"/>
                <a:cs typeface="Cambria"/>
              </a:rPr>
              <a:t>01</a:t>
            </a:r>
            <a:endParaRPr sz="8000">
              <a:latin typeface="Cambria"/>
              <a:cs typeface="Cambria"/>
            </a:endParaRPr>
          </a:p>
          <a:p>
            <a:pPr marL="12700" marR="5080">
              <a:lnSpc>
                <a:spcPct val="108300"/>
              </a:lnSpc>
              <a:spcBef>
                <a:spcPts val="825"/>
              </a:spcBef>
            </a:pPr>
            <a:r>
              <a:rPr sz="3000" spc="-10" dirty="0">
                <a:solidFill>
                  <a:srgbClr val="17120A"/>
                </a:solidFill>
                <a:latin typeface="Cambria"/>
                <a:cs typeface="Cambria"/>
              </a:rPr>
              <a:t>Monitoring </a:t>
            </a:r>
            <a:r>
              <a:rPr sz="3000" dirty="0">
                <a:solidFill>
                  <a:srgbClr val="17120A"/>
                </a:solidFill>
                <a:latin typeface="Cambria"/>
                <a:cs typeface="Cambria"/>
              </a:rPr>
              <a:t>User</a:t>
            </a:r>
            <a:r>
              <a:rPr sz="3000" spc="145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-10" dirty="0">
                <a:solidFill>
                  <a:srgbClr val="17120A"/>
                </a:solidFill>
                <a:latin typeface="Cambria"/>
                <a:cs typeface="Cambria"/>
              </a:rPr>
              <a:t>Actions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2325" y="7376794"/>
            <a:ext cx="247904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400" spc="-220" dirty="0">
                <a:solidFill>
                  <a:srgbClr val="17120A"/>
                </a:solidFill>
                <a:latin typeface="Verdana"/>
                <a:cs typeface="Verdana"/>
              </a:rPr>
              <a:t>Track</a:t>
            </a:r>
            <a:r>
              <a:rPr sz="2400" spc="-4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performance metrics</a:t>
            </a:r>
            <a:r>
              <a:rPr sz="2400" spc="-38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like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7120A"/>
                </a:solidFill>
                <a:latin typeface="Verdana"/>
                <a:cs typeface="Verdana"/>
              </a:rPr>
              <a:t>speed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and</a:t>
            </a:r>
            <a:r>
              <a:rPr sz="2400" spc="-39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17120A"/>
                </a:solidFill>
                <a:latin typeface="Verdana"/>
                <a:cs typeface="Verdana"/>
              </a:rPr>
              <a:t>accuracy.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5425" y="3806879"/>
            <a:ext cx="1661160" cy="2720975"/>
          </a:xfrm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0"/>
              </a:spcBef>
            </a:pPr>
            <a:r>
              <a:rPr sz="8000" spc="-25" dirty="0">
                <a:solidFill>
                  <a:srgbClr val="17120A"/>
                </a:solidFill>
                <a:latin typeface="Cambria"/>
                <a:cs typeface="Cambria"/>
              </a:rPr>
              <a:t>02</a:t>
            </a:r>
            <a:endParaRPr sz="8000">
              <a:latin typeface="Cambria"/>
              <a:cs typeface="Cambria"/>
            </a:endParaRPr>
          </a:p>
          <a:p>
            <a:pPr marL="12700" marR="5080">
              <a:lnSpc>
                <a:spcPct val="108300"/>
              </a:lnSpc>
              <a:spcBef>
                <a:spcPts val="825"/>
              </a:spcBef>
            </a:pPr>
            <a:r>
              <a:rPr sz="3000" spc="-10" dirty="0">
                <a:solidFill>
                  <a:srgbClr val="17120A"/>
                </a:solidFill>
                <a:latin typeface="Cambria"/>
                <a:cs typeface="Cambria"/>
              </a:rPr>
              <a:t>Providing </a:t>
            </a:r>
            <a:r>
              <a:rPr sz="3000" spc="65" dirty="0">
                <a:solidFill>
                  <a:srgbClr val="17120A"/>
                </a:solidFill>
                <a:latin typeface="Cambria"/>
                <a:cs typeface="Cambria"/>
              </a:rPr>
              <a:t>Feedback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45425" y="7376720"/>
            <a:ext cx="246888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400" spc="-150" dirty="0">
                <a:solidFill>
                  <a:srgbClr val="17120A"/>
                </a:solidFill>
                <a:latin typeface="Verdana"/>
                <a:cs typeface="Verdana"/>
              </a:rPr>
              <a:t>Offer</a:t>
            </a:r>
            <a:r>
              <a:rPr sz="2400" spc="-434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20" dirty="0">
                <a:solidFill>
                  <a:srgbClr val="17120A"/>
                </a:solidFill>
                <a:latin typeface="Verdana"/>
                <a:cs typeface="Verdana"/>
              </a:rPr>
              <a:t>immediate</a:t>
            </a:r>
            <a:r>
              <a:rPr sz="2400" spc="-3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17120A"/>
                </a:solidFill>
                <a:latin typeface="Verdana"/>
                <a:cs typeface="Verdana"/>
              </a:rPr>
              <a:t>or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post-</a:t>
            </a:r>
            <a:r>
              <a:rPr sz="2400" spc="-215" dirty="0">
                <a:solidFill>
                  <a:srgbClr val="17120A"/>
                </a:solidFill>
                <a:latin typeface="Verdana"/>
                <a:cs typeface="Verdana"/>
              </a:rPr>
              <a:t>task</a:t>
            </a:r>
            <a:r>
              <a:rPr sz="2400" spc="-41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17120A"/>
                </a:solidFill>
                <a:latin typeface="Verdana"/>
                <a:cs typeface="Verdana"/>
              </a:rPr>
              <a:t>insights </a:t>
            </a:r>
            <a:r>
              <a:rPr sz="2400" spc="-160" dirty="0">
                <a:solidFill>
                  <a:srgbClr val="17120A"/>
                </a:solidFill>
                <a:latin typeface="Verdana"/>
                <a:cs typeface="Verdana"/>
              </a:rPr>
              <a:t>for</a:t>
            </a:r>
            <a:r>
              <a:rPr sz="2400" spc="-459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17120A"/>
                </a:solidFill>
                <a:latin typeface="Verdana"/>
                <a:cs typeface="Verdana"/>
              </a:rPr>
              <a:t>improvement.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98525" y="3806879"/>
            <a:ext cx="2519045" cy="2225675"/>
          </a:xfrm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0"/>
              </a:spcBef>
            </a:pPr>
            <a:r>
              <a:rPr sz="8000" spc="-25" dirty="0">
                <a:solidFill>
                  <a:srgbClr val="17120A"/>
                </a:solidFill>
                <a:latin typeface="Cambria"/>
                <a:cs typeface="Cambria"/>
              </a:rPr>
              <a:t>03</a:t>
            </a:r>
            <a:endParaRPr sz="8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000" dirty="0">
                <a:solidFill>
                  <a:srgbClr val="17120A"/>
                </a:solidFill>
                <a:latin typeface="Cambria"/>
                <a:cs typeface="Cambria"/>
              </a:rPr>
              <a:t>Adapting</a:t>
            </a:r>
            <a:r>
              <a:rPr sz="3000" spc="509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-120" dirty="0">
                <a:solidFill>
                  <a:srgbClr val="17120A"/>
                </a:solidFill>
                <a:latin typeface="Cambria"/>
                <a:cs typeface="Cambria"/>
              </a:rPr>
              <a:t>Tasks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98525" y="6881569"/>
            <a:ext cx="226123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400" spc="-95" dirty="0">
                <a:solidFill>
                  <a:srgbClr val="17120A"/>
                </a:solidFill>
                <a:latin typeface="Verdana"/>
                <a:cs typeface="Verdana"/>
              </a:rPr>
              <a:t>Customize </a:t>
            </a:r>
            <a:r>
              <a:rPr sz="2400" spc="-175" dirty="0">
                <a:solidFill>
                  <a:srgbClr val="17120A"/>
                </a:solidFill>
                <a:latin typeface="Verdana"/>
                <a:cs typeface="Verdana"/>
              </a:rPr>
              <a:t>challenges</a:t>
            </a:r>
            <a:r>
              <a:rPr sz="2400" spc="-33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7120A"/>
                </a:solidFill>
                <a:latin typeface="Verdana"/>
                <a:cs typeface="Verdana"/>
              </a:rPr>
              <a:t>to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enhance</a:t>
            </a:r>
            <a:r>
              <a:rPr sz="2400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learning </a:t>
            </a:r>
            <a:r>
              <a:rPr sz="2400" spc="-90" dirty="0">
                <a:solidFill>
                  <a:srgbClr val="17120A"/>
                </a:solidFill>
                <a:latin typeface="Verdana"/>
                <a:cs typeface="Verdana"/>
              </a:rPr>
              <a:t>efficiency.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C4E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31300" y="5543694"/>
            <a:ext cx="7964170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400" spc="-155" dirty="0">
                <a:solidFill>
                  <a:srgbClr val="F9F7F7"/>
                </a:solidFill>
                <a:latin typeface="Verdana"/>
                <a:cs typeface="Verdana"/>
              </a:rPr>
              <a:t>The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F9F7F7"/>
                </a:solidFill>
                <a:latin typeface="Verdana"/>
                <a:cs typeface="Verdana"/>
              </a:rPr>
              <a:t>Cognitive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F9F7F7"/>
                </a:solidFill>
                <a:latin typeface="Verdana"/>
                <a:cs typeface="Verdana"/>
              </a:rPr>
              <a:t>Skill</a:t>
            </a:r>
            <a:r>
              <a:rPr sz="2400" spc="-4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9F7F7"/>
                </a:solidFill>
                <a:latin typeface="Verdana"/>
                <a:cs typeface="Verdana"/>
              </a:rPr>
              <a:t>Acquisition</a:t>
            </a:r>
            <a:r>
              <a:rPr sz="240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F9F7F7"/>
                </a:solidFill>
                <a:latin typeface="Verdana"/>
                <a:cs typeface="Verdana"/>
              </a:rPr>
              <a:t>Model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F9F7F7"/>
                </a:solidFill>
                <a:latin typeface="Verdana"/>
                <a:cs typeface="Verdana"/>
              </a:rPr>
              <a:t>outlines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260" dirty="0">
                <a:solidFill>
                  <a:srgbClr val="F9F7F7"/>
                </a:solidFill>
                <a:latin typeface="Verdana"/>
                <a:cs typeface="Verdana"/>
              </a:rPr>
              <a:t>three</a:t>
            </a:r>
            <a:r>
              <a:rPr sz="2400" b="1" spc="-31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254" dirty="0">
                <a:solidFill>
                  <a:srgbClr val="F9F7F7"/>
                </a:solidFill>
                <a:latin typeface="Verdana"/>
                <a:cs typeface="Verdana"/>
              </a:rPr>
              <a:t>stages</a:t>
            </a:r>
            <a:r>
              <a:rPr sz="2400" b="1" spc="-3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9F7F7"/>
                </a:solidFill>
                <a:latin typeface="Verdana"/>
                <a:cs typeface="Verdana"/>
              </a:rPr>
              <a:t>of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typing</a:t>
            </a:r>
            <a:r>
              <a:rPr sz="2400" spc="-35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9F7F7"/>
                </a:solidFill>
                <a:latin typeface="Verdana"/>
                <a:cs typeface="Verdana"/>
              </a:rPr>
              <a:t>proficiency:</a:t>
            </a:r>
            <a:r>
              <a:rPr sz="2400" spc="-3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F9F7F7"/>
                </a:solidFill>
                <a:latin typeface="Verdana"/>
                <a:cs typeface="Verdana"/>
              </a:rPr>
              <a:t>Cognitive,</a:t>
            </a:r>
            <a:r>
              <a:rPr sz="2400" spc="-42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Associative,</a:t>
            </a:r>
            <a:r>
              <a:rPr sz="2400" spc="-3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9F7F7"/>
                </a:solidFill>
                <a:latin typeface="Verdana"/>
                <a:cs typeface="Verdana"/>
              </a:rPr>
              <a:t>and</a:t>
            </a:r>
            <a:r>
              <a:rPr sz="2400" spc="-43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F9F7F7"/>
                </a:solidFill>
                <a:latin typeface="Verdana"/>
                <a:cs typeface="Verdana"/>
              </a:rPr>
              <a:t>Autonomous,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illustrating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15" dirty="0">
                <a:solidFill>
                  <a:srgbClr val="F9F7F7"/>
                </a:solidFill>
                <a:latin typeface="Verdana"/>
                <a:cs typeface="Verdana"/>
              </a:rPr>
              <a:t>how</a:t>
            </a:r>
            <a:r>
              <a:rPr sz="2400" spc="-4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F9F7F7"/>
                </a:solidFill>
                <a:latin typeface="Verdana"/>
                <a:cs typeface="Verdana"/>
              </a:rPr>
              <a:t>users</a:t>
            </a:r>
            <a:r>
              <a:rPr sz="240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F9F7F7"/>
                </a:solidFill>
                <a:latin typeface="Verdana"/>
                <a:cs typeface="Verdana"/>
              </a:rPr>
              <a:t>develop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skills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F9F7F7"/>
                </a:solidFill>
                <a:latin typeface="Verdana"/>
                <a:cs typeface="Verdana"/>
              </a:rPr>
              <a:t>through</a:t>
            </a:r>
            <a:r>
              <a:rPr sz="240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F9F7F7"/>
                </a:solidFill>
                <a:latin typeface="Verdana"/>
                <a:cs typeface="Verdana"/>
              </a:rPr>
              <a:t>practice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9F7F7"/>
                </a:solidFill>
                <a:latin typeface="Verdana"/>
                <a:cs typeface="Verdana"/>
              </a:rPr>
              <a:t>and </a:t>
            </a:r>
            <a:r>
              <a:rPr sz="2400" spc="-70" dirty="0">
                <a:solidFill>
                  <a:srgbClr val="F9F7F7"/>
                </a:solidFill>
                <a:latin typeface="Verdana"/>
                <a:cs typeface="Verdana"/>
              </a:rPr>
              <a:t>feedback.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31300" y="2167974"/>
            <a:ext cx="7251065" cy="2673350"/>
          </a:xfrm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040"/>
              </a:spcBef>
            </a:pPr>
            <a:r>
              <a:rPr sz="9500" dirty="0"/>
              <a:t>Cognitive</a:t>
            </a:r>
            <a:r>
              <a:rPr sz="9500" spc="-75" dirty="0"/>
              <a:t> </a:t>
            </a:r>
            <a:r>
              <a:rPr sz="9500" spc="-195" dirty="0"/>
              <a:t>Skill </a:t>
            </a:r>
            <a:r>
              <a:rPr sz="9500" spc="-40" dirty="0"/>
              <a:t>Acquisition</a:t>
            </a:r>
            <a:endParaRPr sz="95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908CCD-4FE6-7A14-360D-DF5EC1120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14500"/>
            <a:ext cx="7886700" cy="73152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C4E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08719" y="4899659"/>
            <a:ext cx="3025140" cy="1945005"/>
          </a:xfrm>
          <a:custGeom>
            <a:avLst/>
            <a:gdLst/>
            <a:ahLst/>
            <a:cxnLst/>
            <a:rect l="l" t="t" r="r" b="b"/>
            <a:pathLst>
              <a:path w="3025140" h="1945004">
                <a:moveTo>
                  <a:pt x="2344269" y="1945004"/>
                </a:moveTo>
                <a:lnTo>
                  <a:pt x="680751" y="1945004"/>
                </a:lnTo>
                <a:lnTo>
                  <a:pt x="632135" y="1943295"/>
                </a:lnTo>
                <a:lnTo>
                  <a:pt x="584441" y="1938244"/>
                </a:lnTo>
                <a:lnTo>
                  <a:pt x="537785" y="1929967"/>
                </a:lnTo>
                <a:lnTo>
                  <a:pt x="492282" y="1918578"/>
                </a:lnTo>
                <a:lnTo>
                  <a:pt x="448047" y="1904193"/>
                </a:lnTo>
                <a:lnTo>
                  <a:pt x="405195" y="1886927"/>
                </a:lnTo>
                <a:lnTo>
                  <a:pt x="363842" y="1866896"/>
                </a:lnTo>
                <a:lnTo>
                  <a:pt x="324103" y="1844214"/>
                </a:lnTo>
                <a:lnTo>
                  <a:pt x="286093" y="1818996"/>
                </a:lnTo>
                <a:lnTo>
                  <a:pt x="249926" y="1791359"/>
                </a:lnTo>
                <a:lnTo>
                  <a:pt x="215720" y="1761416"/>
                </a:lnTo>
                <a:lnTo>
                  <a:pt x="183587" y="1729284"/>
                </a:lnTo>
                <a:lnTo>
                  <a:pt x="153645" y="1695077"/>
                </a:lnTo>
                <a:lnTo>
                  <a:pt x="126008" y="1658911"/>
                </a:lnTo>
                <a:lnTo>
                  <a:pt x="100790" y="1620901"/>
                </a:lnTo>
                <a:lnTo>
                  <a:pt x="78108" y="1581162"/>
                </a:lnTo>
                <a:lnTo>
                  <a:pt x="58077" y="1539809"/>
                </a:lnTo>
                <a:lnTo>
                  <a:pt x="40811" y="1496957"/>
                </a:lnTo>
                <a:lnTo>
                  <a:pt x="26426" y="1452722"/>
                </a:lnTo>
                <a:lnTo>
                  <a:pt x="15037" y="1407219"/>
                </a:lnTo>
                <a:lnTo>
                  <a:pt x="6760" y="1360563"/>
                </a:lnTo>
                <a:lnTo>
                  <a:pt x="1709" y="1312869"/>
                </a:lnTo>
                <a:lnTo>
                  <a:pt x="0" y="1264253"/>
                </a:lnTo>
                <a:lnTo>
                  <a:pt x="0" y="680751"/>
                </a:lnTo>
                <a:lnTo>
                  <a:pt x="1709" y="632135"/>
                </a:lnTo>
                <a:lnTo>
                  <a:pt x="6760" y="584441"/>
                </a:lnTo>
                <a:lnTo>
                  <a:pt x="15037" y="537785"/>
                </a:lnTo>
                <a:lnTo>
                  <a:pt x="26426" y="492282"/>
                </a:lnTo>
                <a:lnTo>
                  <a:pt x="40811" y="448047"/>
                </a:lnTo>
                <a:lnTo>
                  <a:pt x="58077" y="405195"/>
                </a:lnTo>
                <a:lnTo>
                  <a:pt x="78108" y="363842"/>
                </a:lnTo>
                <a:lnTo>
                  <a:pt x="100790" y="324103"/>
                </a:lnTo>
                <a:lnTo>
                  <a:pt x="126008" y="286093"/>
                </a:lnTo>
                <a:lnTo>
                  <a:pt x="153645" y="249926"/>
                </a:lnTo>
                <a:lnTo>
                  <a:pt x="183587" y="215720"/>
                </a:lnTo>
                <a:lnTo>
                  <a:pt x="215720" y="183587"/>
                </a:lnTo>
                <a:lnTo>
                  <a:pt x="249926" y="153645"/>
                </a:lnTo>
                <a:lnTo>
                  <a:pt x="286093" y="126008"/>
                </a:lnTo>
                <a:lnTo>
                  <a:pt x="324103" y="100790"/>
                </a:lnTo>
                <a:lnTo>
                  <a:pt x="363842" y="78108"/>
                </a:lnTo>
                <a:lnTo>
                  <a:pt x="405195" y="58077"/>
                </a:lnTo>
                <a:lnTo>
                  <a:pt x="448047" y="40811"/>
                </a:lnTo>
                <a:lnTo>
                  <a:pt x="492282" y="26426"/>
                </a:lnTo>
                <a:lnTo>
                  <a:pt x="537785" y="15037"/>
                </a:lnTo>
                <a:lnTo>
                  <a:pt x="584441" y="6760"/>
                </a:lnTo>
                <a:lnTo>
                  <a:pt x="632135" y="1709"/>
                </a:lnTo>
                <a:lnTo>
                  <a:pt x="680751" y="0"/>
                </a:lnTo>
                <a:lnTo>
                  <a:pt x="2344269" y="0"/>
                </a:lnTo>
                <a:lnTo>
                  <a:pt x="2392885" y="1709"/>
                </a:lnTo>
                <a:lnTo>
                  <a:pt x="2440579" y="6760"/>
                </a:lnTo>
                <a:lnTo>
                  <a:pt x="2487235" y="15037"/>
                </a:lnTo>
                <a:lnTo>
                  <a:pt x="2532738" y="26426"/>
                </a:lnTo>
                <a:lnTo>
                  <a:pt x="2576973" y="40811"/>
                </a:lnTo>
                <a:lnTo>
                  <a:pt x="2619825" y="58077"/>
                </a:lnTo>
                <a:lnTo>
                  <a:pt x="2661178" y="78108"/>
                </a:lnTo>
                <a:lnTo>
                  <a:pt x="2700917" y="100790"/>
                </a:lnTo>
                <a:lnTo>
                  <a:pt x="2738927" y="126008"/>
                </a:lnTo>
                <a:lnTo>
                  <a:pt x="2775093" y="153645"/>
                </a:lnTo>
                <a:lnTo>
                  <a:pt x="2809300" y="183587"/>
                </a:lnTo>
                <a:lnTo>
                  <a:pt x="2841432" y="215720"/>
                </a:lnTo>
                <a:lnTo>
                  <a:pt x="2871375" y="249926"/>
                </a:lnTo>
                <a:lnTo>
                  <a:pt x="2899012" y="286093"/>
                </a:lnTo>
                <a:lnTo>
                  <a:pt x="2924230" y="324103"/>
                </a:lnTo>
                <a:lnTo>
                  <a:pt x="2946912" y="363842"/>
                </a:lnTo>
                <a:lnTo>
                  <a:pt x="2966943" y="405195"/>
                </a:lnTo>
                <a:lnTo>
                  <a:pt x="2984209" y="448047"/>
                </a:lnTo>
                <a:lnTo>
                  <a:pt x="2998594" y="492282"/>
                </a:lnTo>
                <a:lnTo>
                  <a:pt x="3009983" y="537785"/>
                </a:lnTo>
                <a:lnTo>
                  <a:pt x="3018260" y="584441"/>
                </a:lnTo>
                <a:lnTo>
                  <a:pt x="3023311" y="632135"/>
                </a:lnTo>
                <a:lnTo>
                  <a:pt x="3025020" y="680751"/>
                </a:lnTo>
                <a:lnTo>
                  <a:pt x="3025020" y="1264253"/>
                </a:lnTo>
                <a:lnTo>
                  <a:pt x="3023311" y="1312869"/>
                </a:lnTo>
                <a:lnTo>
                  <a:pt x="3018260" y="1360563"/>
                </a:lnTo>
                <a:lnTo>
                  <a:pt x="3009983" y="1407219"/>
                </a:lnTo>
                <a:lnTo>
                  <a:pt x="2998594" y="1452722"/>
                </a:lnTo>
                <a:lnTo>
                  <a:pt x="2984209" y="1496957"/>
                </a:lnTo>
                <a:lnTo>
                  <a:pt x="2966943" y="1539809"/>
                </a:lnTo>
                <a:lnTo>
                  <a:pt x="2946912" y="1581162"/>
                </a:lnTo>
                <a:lnTo>
                  <a:pt x="2924230" y="1620901"/>
                </a:lnTo>
                <a:lnTo>
                  <a:pt x="2899012" y="1658911"/>
                </a:lnTo>
                <a:lnTo>
                  <a:pt x="2871375" y="1695077"/>
                </a:lnTo>
                <a:lnTo>
                  <a:pt x="2841432" y="1729284"/>
                </a:lnTo>
                <a:lnTo>
                  <a:pt x="2809300" y="1761416"/>
                </a:lnTo>
                <a:lnTo>
                  <a:pt x="2775093" y="1791359"/>
                </a:lnTo>
                <a:lnTo>
                  <a:pt x="2738927" y="1818996"/>
                </a:lnTo>
                <a:lnTo>
                  <a:pt x="2700917" y="1844214"/>
                </a:lnTo>
                <a:lnTo>
                  <a:pt x="2661178" y="1866896"/>
                </a:lnTo>
                <a:lnTo>
                  <a:pt x="2619825" y="1886927"/>
                </a:lnTo>
                <a:lnTo>
                  <a:pt x="2576973" y="1904193"/>
                </a:lnTo>
                <a:lnTo>
                  <a:pt x="2532738" y="1918578"/>
                </a:lnTo>
                <a:lnTo>
                  <a:pt x="2487235" y="1929967"/>
                </a:lnTo>
                <a:lnTo>
                  <a:pt x="2440579" y="1938244"/>
                </a:lnTo>
                <a:lnTo>
                  <a:pt x="2392885" y="1943295"/>
                </a:lnTo>
                <a:lnTo>
                  <a:pt x="2344269" y="1945004"/>
                </a:lnTo>
                <a:close/>
              </a:path>
            </a:pathLst>
          </a:custGeom>
          <a:solidFill>
            <a:srgbClr val="CCBD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83700" y="5073649"/>
            <a:ext cx="21361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880" dirty="0">
                <a:solidFill>
                  <a:srgbClr val="17120A"/>
                </a:solidFill>
                <a:latin typeface="Cambria"/>
                <a:cs typeface="Cambria"/>
              </a:rPr>
              <a:t>85%</a:t>
            </a:r>
            <a:endParaRPr sz="96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7344" y="4899659"/>
            <a:ext cx="5231130" cy="1945005"/>
          </a:xfrm>
          <a:custGeom>
            <a:avLst/>
            <a:gdLst/>
            <a:ahLst/>
            <a:cxnLst/>
            <a:rect l="l" t="t" r="r" b="b"/>
            <a:pathLst>
              <a:path w="5231130" h="1945004">
                <a:moveTo>
                  <a:pt x="4550348" y="1945004"/>
                </a:moveTo>
                <a:lnTo>
                  <a:pt x="680751" y="1945004"/>
                </a:lnTo>
                <a:lnTo>
                  <a:pt x="632135" y="1943295"/>
                </a:lnTo>
                <a:lnTo>
                  <a:pt x="584441" y="1938244"/>
                </a:lnTo>
                <a:lnTo>
                  <a:pt x="537785" y="1929967"/>
                </a:lnTo>
                <a:lnTo>
                  <a:pt x="492282" y="1918578"/>
                </a:lnTo>
                <a:lnTo>
                  <a:pt x="448047" y="1904193"/>
                </a:lnTo>
                <a:lnTo>
                  <a:pt x="405195" y="1886927"/>
                </a:lnTo>
                <a:lnTo>
                  <a:pt x="363842" y="1866896"/>
                </a:lnTo>
                <a:lnTo>
                  <a:pt x="324103" y="1844214"/>
                </a:lnTo>
                <a:lnTo>
                  <a:pt x="286093" y="1818996"/>
                </a:lnTo>
                <a:lnTo>
                  <a:pt x="249926" y="1791359"/>
                </a:lnTo>
                <a:lnTo>
                  <a:pt x="215720" y="1761416"/>
                </a:lnTo>
                <a:lnTo>
                  <a:pt x="183587" y="1729284"/>
                </a:lnTo>
                <a:lnTo>
                  <a:pt x="153645" y="1695077"/>
                </a:lnTo>
                <a:lnTo>
                  <a:pt x="126008" y="1658911"/>
                </a:lnTo>
                <a:lnTo>
                  <a:pt x="100790" y="1620901"/>
                </a:lnTo>
                <a:lnTo>
                  <a:pt x="78108" y="1581162"/>
                </a:lnTo>
                <a:lnTo>
                  <a:pt x="58077" y="1539809"/>
                </a:lnTo>
                <a:lnTo>
                  <a:pt x="40811" y="1496957"/>
                </a:lnTo>
                <a:lnTo>
                  <a:pt x="26426" y="1452722"/>
                </a:lnTo>
                <a:lnTo>
                  <a:pt x="15037" y="1407219"/>
                </a:lnTo>
                <a:lnTo>
                  <a:pt x="6760" y="1360563"/>
                </a:lnTo>
                <a:lnTo>
                  <a:pt x="1709" y="1312869"/>
                </a:lnTo>
                <a:lnTo>
                  <a:pt x="0" y="1264253"/>
                </a:lnTo>
                <a:lnTo>
                  <a:pt x="0" y="680751"/>
                </a:lnTo>
                <a:lnTo>
                  <a:pt x="1709" y="632135"/>
                </a:lnTo>
                <a:lnTo>
                  <a:pt x="6760" y="584441"/>
                </a:lnTo>
                <a:lnTo>
                  <a:pt x="15037" y="537785"/>
                </a:lnTo>
                <a:lnTo>
                  <a:pt x="26426" y="492282"/>
                </a:lnTo>
                <a:lnTo>
                  <a:pt x="40811" y="448047"/>
                </a:lnTo>
                <a:lnTo>
                  <a:pt x="58077" y="405195"/>
                </a:lnTo>
                <a:lnTo>
                  <a:pt x="78108" y="363842"/>
                </a:lnTo>
                <a:lnTo>
                  <a:pt x="100790" y="324103"/>
                </a:lnTo>
                <a:lnTo>
                  <a:pt x="126008" y="286093"/>
                </a:lnTo>
                <a:lnTo>
                  <a:pt x="153645" y="249926"/>
                </a:lnTo>
                <a:lnTo>
                  <a:pt x="183587" y="215720"/>
                </a:lnTo>
                <a:lnTo>
                  <a:pt x="215720" y="183587"/>
                </a:lnTo>
                <a:lnTo>
                  <a:pt x="249926" y="153645"/>
                </a:lnTo>
                <a:lnTo>
                  <a:pt x="286093" y="126008"/>
                </a:lnTo>
                <a:lnTo>
                  <a:pt x="324103" y="100790"/>
                </a:lnTo>
                <a:lnTo>
                  <a:pt x="363842" y="78108"/>
                </a:lnTo>
                <a:lnTo>
                  <a:pt x="405195" y="58077"/>
                </a:lnTo>
                <a:lnTo>
                  <a:pt x="448047" y="40811"/>
                </a:lnTo>
                <a:lnTo>
                  <a:pt x="492282" y="26426"/>
                </a:lnTo>
                <a:lnTo>
                  <a:pt x="537785" y="15037"/>
                </a:lnTo>
                <a:lnTo>
                  <a:pt x="584441" y="6760"/>
                </a:lnTo>
                <a:lnTo>
                  <a:pt x="632135" y="1709"/>
                </a:lnTo>
                <a:lnTo>
                  <a:pt x="680751" y="0"/>
                </a:lnTo>
                <a:lnTo>
                  <a:pt x="4550348" y="0"/>
                </a:lnTo>
                <a:lnTo>
                  <a:pt x="4598964" y="1709"/>
                </a:lnTo>
                <a:lnTo>
                  <a:pt x="4646658" y="6760"/>
                </a:lnTo>
                <a:lnTo>
                  <a:pt x="4693314" y="15037"/>
                </a:lnTo>
                <a:lnTo>
                  <a:pt x="4738817" y="26426"/>
                </a:lnTo>
                <a:lnTo>
                  <a:pt x="4783052" y="40811"/>
                </a:lnTo>
                <a:lnTo>
                  <a:pt x="4825904" y="58077"/>
                </a:lnTo>
                <a:lnTo>
                  <a:pt x="4867257" y="78108"/>
                </a:lnTo>
                <a:lnTo>
                  <a:pt x="4906996" y="100790"/>
                </a:lnTo>
                <a:lnTo>
                  <a:pt x="4945006" y="126008"/>
                </a:lnTo>
                <a:lnTo>
                  <a:pt x="4981172" y="153645"/>
                </a:lnTo>
                <a:lnTo>
                  <a:pt x="5015379" y="183587"/>
                </a:lnTo>
                <a:lnTo>
                  <a:pt x="5047511" y="215720"/>
                </a:lnTo>
                <a:lnTo>
                  <a:pt x="5077454" y="249926"/>
                </a:lnTo>
                <a:lnTo>
                  <a:pt x="5105091" y="286093"/>
                </a:lnTo>
                <a:lnTo>
                  <a:pt x="5130309" y="324103"/>
                </a:lnTo>
                <a:lnTo>
                  <a:pt x="5152991" y="363842"/>
                </a:lnTo>
                <a:lnTo>
                  <a:pt x="5173022" y="405195"/>
                </a:lnTo>
                <a:lnTo>
                  <a:pt x="5190288" y="448047"/>
                </a:lnTo>
                <a:lnTo>
                  <a:pt x="5204673" y="492282"/>
                </a:lnTo>
                <a:lnTo>
                  <a:pt x="5216062" y="537785"/>
                </a:lnTo>
                <a:lnTo>
                  <a:pt x="5224339" y="584441"/>
                </a:lnTo>
                <a:lnTo>
                  <a:pt x="5229390" y="632135"/>
                </a:lnTo>
                <a:lnTo>
                  <a:pt x="5231099" y="680751"/>
                </a:lnTo>
                <a:lnTo>
                  <a:pt x="5231099" y="1264253"/>
                </a:lnTo>
                <a:lnTo>
                  <a:pt x="5229390" y="1312869"/>
                </a:lnTo>
                <a:lnTo>
                  <a:pt x="5224339" y="1360563"/>
                </a:lnTo>
                <a:lnTo>
                  <a:pt x="5216062" y="1407219"/>
                </a:lnTo>
                <a:lnTo>
                  <a:pt x="5204673" y="1452722"/>
                </a:lnTo>
                <a:lnTo>
                  <a:pt x="5190288" y="1496957"/>
                </a:lnTo>
                <a:lnTo>
                  <a:pt x="5173022" y="1539809"/>
                </a:lnTo>
                <a:lnTo>
                  <a:pt x="5152991" y="1581162"/>
                </a:lnTo>
                <a:lnTo>
                  <a:pt x="5130309" y="1620901"/>
                </a:lnTo>
                <a:lnTo>
                  <a:pt x="5105091" y="1658911"/>
                </a:lnTo>
                <a:lnTo>
                  <a:pt x="5077454" y="1695077"/>
                </a:lnTo>
                <a:lnTo>
                  <a:pt x="5047511" y="1729284"/>
                </a:lnTo>
                <a:lnTo>
                  <a:pt x="5015379" y="1761416"/>
                </a:lnTo>
                <a:lnTo>
                  <a:pt x="4981172" y="1791359"/>
                </a:lnTo>
                <a:lnTo>
                  <a:pt x="4945006" y="1818996"/>
                </a:lnTo>
                <a:lnTo>
                  <a:pt x="4906996" y="1844214"/>
                </a:lnTo>
                <a:lnTo>
                  <a:pt x="4867257" y="1866896"/>
                </a:lnTo>
                <a:lnTo>
                  <a:pt x="4825904" y="1886927"/>
                </a:lnTo>
                <a:lnTo>
                  <a:pt x="4783052" y="1904193"/>
                </a:lnTo>
                <a:lnTo>
                  <a:pt x="4738817" y="1918578"/>
                </a:lnTo>
                <a:lnTo>
                  <a:pt x="4693314" y="1929967"/>
                </a:lnTo>
                <a:lnTo>
                  <a:pt x="4646658" y="1938244"/>
                </a:lnTo>
                <a:lnTo>
                  <a:pt x="4598964" y="1943295"/>
                </a:lnTo>
                <a:lnTo>
                  <a:pt x="4550348" y="1945004"/>
                </a:lnTo>
                <a:close/>
              </a:path>
            </a:pathLst>
          </a:custGeom>
          <a:solidFill>
            <a:srgbClr val="E7D9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92325" y="5073649"/>
            <a:ext cx="43421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400" dirty="0">
                <a:solidFill>
                  <a:srgbClr val="17120A"/>
                </a:solidFill>
                <a:latin typeface="Cambria"/>
                <a:cs typeface="Cambria"/>
              </a:rPr>
              <a:t>72</a:t>
            </a:r>
            <a:r>
              <a:rPr sz="9600" spc="-495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9600" spc="80" dirty="0">
                <a:solidFill>
                  <a:srgbClr val="17120A"/>
                </a:solidFill>
                <a:latin typeface="Cambria"/>
                <a:cs typeface="Cambria"/>
              </a:rPr>
              <a:t>WPM</a:t>
            </a:r>
            <a:endParaRPr sz="96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Performance</a:t>
            </a:r>
            <a:r>
              <a:rPr spc="-320" dirty="0"/>
              <a:t> </a:t>
            </a:r>
            <a:r>
              <a:rPr spc="-120" dirty="0"/>
              <a:t>Metrics</a:t>
            </a:r>
            <a:r>
              <a:rPr spc="-315" dirty="0"/>
              <a:t> </a:t>
            </a:r>
            <a:r>
              <a:rPr dirty="0"/>
              <a:t>in</a:t>
            </a:r>
            <a:r>
              <a:rPr spc="-320" dirty="0"/>
              <a:t> </a:t>
            </a:r>
            <a:r>
              <a:rPr spc="-1145" dirty="0"/>
              <a:t>T</a:t>
            </a:r>
            <a:r>
              <a:rPr spc="-204" dirty="0"/>
              <a:t>y</a:t>
            </a:r>
            <a:r>
              <a:rPr spc="-185" dirty="0"/>
              <a:t>p</a:t>
            </a:r>
            <a:r>
              <a:rPr spc="-210" dirty="0"/>
              <a:t>i</a:t>
            </a:r>
            <a:r>
              <a:rPr spc="-185" dirty="0"/>
              <a:t>n</a:t>
            </a:r>
            <a:r>
              <a:rPr spc="-15" dirty="0"/>
              <a:t>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4049" y="2248589"/>
            <a:ext cx="646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0" dirty="0">
                <a:solidFill>
                  <a:srgbClr val="F9F7F7"/>
                </a:solidFill>
                <a:latin typeface="Verdana"/>
                <a:cs typeface="Verdana"/>
              </a:rPr>
              <a:t>Understanding</a:t>
            </a:r>
            <a:r>
              <a:rPr sz="2400" b="1" spc="-30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250" dirty="0">
                <a:solidFill>
                  <a:srgbClr val="F9F7F7"/>
                </a:solidFill>
                <a:latin typeface="Verdana"/>
                <a:cs typeface="Verdana"/>
              </a:rPr>
              <a:t>Speed</a:t>
            </a:r>
            <a:r>
              <a:rPr sz="2400" b="1" spc="-30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295" dirty="0">
                <a:solidFill>
                  <a:srgbClr val="F9F7F7"/>
                </a:solidFill>
                <a:latin typeface="Verdana"/>
                <a:cs typeface="Verdana"/>
              </a:rPr>
              <a:t>and</a:t>
            </a:r>
            <a:r>
              <a:rPr sz="2400" b="1" spc="-38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245" dirty="0">
                <a:solidFill>
                  <a:srgbClr val="F9F7F7"/>
                </a:solidFill>
                <a:latin typeface="Verdana"/>
                <a:cs typeface="Verdana"/>
              </a:rPr>
              <a:t>Accuracy</a:t>
            </a:r>
            <a:r>
              <a:rPr sz="2400" b="1" spc="-39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b="1" spc="-305" dirty="0">
                <a:solidFill>
                  <a:srgbClr val="F9F7F7"/>
                </a:solidFill>
                <a:latin typeface="Verdana"/>
                <a:cs typeface="Verdana"/>
              </a:rPr>
              <a:t>Indicators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2325" y="7533396"/>
            <a:ext cx="6024880" cy="1324610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3000" spc="95" dirty="0">
                <a:solidFill>
                  <a:srgbClr val="F9F7F7"/>
                </a:solidFill>
                <a:latin typeface="Cambria"/>
                <a:cs typeface="Cambria"/>
              </a:rPr>
              <a:t>Average</a:t>
            </a:r>
            <a:r>
              <a:rPr sz="3000" spc="325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dirty="0">
                <a:solidFill>
                  <a:srgbClr val="F9F7F7"/>
                </a:solidFill>
                <a:latin typeface="Cambria"/>
                <a:cs typeface="Cambria"/>
              </a:rPr>
              <a:t>Typing</a:t>
            </a:r>
            <a:r>
              <a:rPr sz="3000" spc="330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spc="160" dirty="0">
                <a:solidFill>
                  <a:srgbClr val="F9F7F7"/>
                </a:solidFill>
                <a:latin typeface="Cambria"/>
                <a:cs typeface="Cambria"/>
              </a:rPr>
              <a:t>Speed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400" spc="-175" dirty="0">
                <a:solidFill>
                  <a:srgbClr val="F9F7F7"/>
                </a:solidFill>
                <a:latin typeface="Verdana"/>
                <a:cs typeface="Verdana"/>
              </a:rPr>
              <a:t>Measures</a:t>
            </a:r>
            <a:r>
              <a:rPr sz="240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F9F7F7"/>
                </a:solidFill>
                <a:latin typeface="Verdana"/>
                <a:cs typeface="Verdana"/>
              </a:rPr>
              <a:t>motor</a:t>
            </a:r>
            <a:r>
              <a:rPr sz="2400" spc="-434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F9F7F7"/>
                </a:solidFill>
                <a:latin typeface="Verdana"/>
                <a:cs typeface="Verdana"/>
              </a:rPr>
              <a:t>efficiency</a:t>
            </a:r>
            <a:r>
              <a:rPr sz="2400" spc="-434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during</a:t>
            </a:r>
            <a:r>
              <a:rPr sz="240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F9F7F7"/>
                </a:solidFill>
                <a:latin typeface="Verdana"/>
                <a:cs typeface="Verdana"/>
              </a:rPr>
              <a:t>typing</a:t>
            </a:r>
            <a:r>
              <a:rPr sz="240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F9F7F7"/>
                </a:solidFill>
                <a:latin typeface="Verdana"/>
                <a:cs typeface="Verdana"/>
              </a:rPr>
              <a:t>tasks.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83700" y="7533396"/>
            <a:ext cx="4943475" cy="1324610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3000" spc="155" dirty="0">
                <a:solidFill>
                  <a:srgbClr val="F9F7F7"/>
                </a:solidFill>
                <a:latin typeface="Cambria"/>
                <a:cs typeface="Cambria"/>
              </a:rPr>
              <a:t>Accuracy</a:t>
            </a:r>
            <a:r>
              <a:rPr sz="3000" spc="210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spc="150" dirty="0">
                <a:solidFill>
                  <a:srgbClr val="F9F7F7"/>
                </a:solidFill>
                <a:latin typeface="Cambria"/>
                <a:cs typeface="Cambria"/>
              </a:rPr>
              <a:t>Rate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400" spc="-150" dirty="0">
                <a:solidFill>
                  <a:srgbClr val="F9F7F7"/>
                </a:solidFill>
                <a:latin typeface="Verdana"/>
                <a:cs typeface="Verdana"/>
              </a:rPr>
              <a:t>Reflects</a:t>
            </a:r>
            <a:r>
              <a:rPr sz="240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F9F7F7"/>
                </a:solidFill>
                <a:latin typeface="Verdana"/>
                <a:cs typeface="Verdana"/>
              </a:rPr>
              <a:t>correctness</a:t>
            </a:r>
            <a:r>
              <a:rPr sz="240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F9F7F7"/>
                </a:solidFill>
                <a:latin typeface="Verdana"/>
                <a:cs typeface="Verdana"/>
              </a:rPr>
              <a:t>in</a:t>
            </a:r>
            <a:r>
              <a:rPr sz="240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70" dirty="0">
                <a:solidFill>
                  <a:srgbClr val="F9F7F7"/>
                </a:solidFill>
                <a:latin typeface="Verdana"/>
                <a:cs typeface="Verdana"/>
              </a:rPr>
              <a:t>typed</a:t>
            </a:r>
            <a:r>
              <a:rPr sz="240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F9F7F7"/>
                </a:solidFill>
                <a:latin typeface="Verdana"/>
                <a:cs typeface="Verdana"/>
              </a:rPr>
              <a:t>content.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2391" y="692348"/>
            <a:ext cx="1435607" cy="14858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08027"/>
            <a:ext cx="1117876" cy="1775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070" y="606455"/>
            <a:ext cx="12018645" cy="239712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079115" marR="5080" indent="-3067050">
              <a:lnSpc>
                <a:spcPts val="8480"/>
              </a:lnSpc>
              <a:spcBef>
                <a:spcPts val="1814"/>
              </a:spcBef>
            </a:pPr>
            <a:r>
              <a:rPr spc="75" dirty="0">
                <a:solidFill>
                  <a:srgbClr val="17120A"/>
                </a:solidFill>
              </a:rPr>
              <a:t>Machine</a:t>
            </a:r>
            <a:r>
              <a:rPr spc="-165" dirty="0">
                <a:solidFill>
                  <a:srgbClr val="17120A"/>
                </a:solidFill>
              </a:rPr>
              <a:t> </a:t>
            </a:r>
            <a:r>
              <a:rPr dirty="0">
                <a:solidFill>
                  <a:srgbClr val="17120A"/>
                </a:solidFill>
              </a:rPr>
              <a:t>Learning</a:t>
            </a:r>
            <a:r>
              <a:rPr spc="-160" dirty="0">
                <a:solidFill>
                  <a:srgbClr val="17120A"/>
                </a:solidFill>
              </a:rPr>
              <a:t> </a:t>
            </a:r>
            <a:r>
              <a:rPr spc="-55" dirty="0">
                <a:solidFill>
                  <a:srgbClr val="17120A"/>
                </a:solidFill>
              </a:rPr>
              <a:t>for</a:t>
            </a:r>
            <a:r>
              <a:rPr spc="-160" dirty="0">
                <a:solidFill>
                  <a:srgbClr val="17120A"/>
                </a:solidFill>
              </a:rPr>
              <a:t> </a:t>
            </a:r>
            <a:r>
              <a:rPr spc="-125" dirty="0">
                <a:solidFill>
                  <a:srgbClr val="17120A"/>
                </a:solidFill>
              </a:rPr>
              <a:t>Skill </a:t>
            </a:r>
            <a:r>
              <a:rPr spc="-95" dirty="0">
                <a:solidFill>
                  <a:srgbClr val="17120A"/>
                </a:solidFill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91275" y="4219575"/>
            <a:ext cx="5505450" cy="5429250"/>
            <a:chOff x="6391275" y="4219575"/>
            <a:chExt cx="5505450" cy="5429250"/>
          </a:xfrm>
        </p:grpSpPr>
        <p:sp>
          <p:nvSpPr>
            <p:cNvPr id="4" name="object 4"/>
            <p:cNvSpPr/>
            <p:nvPr/>
          </p:nvSpPr>
          <p:spPr>
            <a:xfrm>
              <a:off x="6419849" y="4248149"/>
              <a:ext cx="5448300" cy="5372100"/>
            </a:xfrm>
            <a:custGeom>
              <a:avLst/>
              <a:gdLst/>
              <a:ahLst/>
              <a:cxnLst/>
              <a:rect l="l" t="t" r="r" b="b"/>
              <a:pathLst>
                <a:path w="5448300" h="5372100">
                  <a:moveTo>
                    <a:pt x="5067300" y="5372100"/>
                  </a:moveTo>
                  <a:lnTo>
                    <a:pt x="381000" y="5372100"/>
                  </a:lnTo>
                  <a:lnTo>
                    <a:pt x="333208" y="5369131"/>
                  </a:lnTo>
                  <a:lnTo>
                    <a:pt x="287187" y="5360463"/>
                  </a:lnTo>
                  <a:lnTo>
                    <a:pt x="243296" y="5346454"/>
                  </a:lnTo>
                  <a:lnTo>
                    <a:pt x="201889" y="5327459"/>
                  </a:lnTo>
                  <a:lnTo>
                    <a:pt x="163326" y="5303837"/>
                  </a:lnTo>
                  <a:lnTo>
                    <a:pt x="127962" y="5275944"/>
                  </a:lnTo>
                  <a:lnTo>
                    <a:pt x="96155" y="5244137"/>
                  </a:lnTo>
                  <a:lnTo>
                    <a:pt x="68262" y="5208773"/>
                  </a:lnTo>
                  <a:lnTo>
                    <a:pt x="44640" y="5170210"/>
                  </a:lnTo>
                  <a:lnTo>
                    <a:pt x="25645" y="5128803"/>
                  </a:lnTo>
                  <a:lnTo>
                    <a:pt x="11636" y="5084912"/>
                  </a:lnTo>
                  <a:lnTo>
                    <a:pt x="2968" y="5038891"/>
                  </a:lnTo>
                  <a:lnTo>
                    <a:pt x="0" y="4991100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067300" y="0"/>
                  </a:lnTo>
                  <a:lnTo>
                    <a:pt x="5115091" y="2968"/>
                  </a:lnTo>
                  <a:lnTo>
                    <a:pt x="5161112" y="11636"/>
                  </a:lnTo>
                  <a:lnTo>
                    <a:pt x="5205003" y="25645"/>
                  </a:lnTo>
                  <a:lnTo>
                    <a:pt x="5246410" y="44640"/>
                  </a:lnTo>
                  <a:lnTo>
                    <a:pt x="5284973" y="68262"/>
                  </a:lnTo>
                  <a:lnTo>
                    <a:pt x="5320337" y="96155"/>
                  </a:lnTo>
                  <a:lnTo>
                    <a:pt x="5352144" y="127962"/>
                  </a:lnTo>
                  <a:lnTo>
                    <a:pt x="5380037" y="163326"/>
                  </a:lnTo>
                  <a:lnTo>
                    <a:pt x="5403659" y="201889"/>
                  </a:lnTo>
                  <a:lnTo>
                    <a:pt x="5422654" y="243296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300" y="381000"/>
                  </a:lnTo>
                  <a:lnTo>
                    <a:pt x="5448300" y="4991100"/>
                  </a:lnTo>
                  <a:lnTo>
                    <a:pt x="5445331" y="5038891"/>
                  </a:lnTo>
                  <a:lnTo>
                    <a:pt x="5436663" y="5084912"/>
                  </a:lnTo>
                  <a:lnTo>
                    <a:pt x="5422654" y="5128803"/>
                  </a:lnTo>
                  <a:lnTo>
                    <a:pt x="5403659" y="5170210"/>
                  </a:lnTo>
                  <a:lnTo>
                    <a:pt x="5380037" y="5208773"/>
                  </a:lnTo>
                  <a:lnTo>
                    <a:pt x="5352144" y="5244137"/>
                  </a:lnTo>
                  <a:lnTo>
                    <a:pt x="5320337" y="5275944"/>
                  </a:lnTo>
                  <a:lnTo>
                    <a:pt x="5284973" y="5303837"/>
                  </a:lnTo>
                  <a:lnTo>
                    <a:pt x="5246410" y="5327459"/>
                  </a:lnTo>
                  <a:lnTo>
                    <a:pt x="5205003" y="5346454"/>
                  </a:lnTo>
                  <a:lnTo>
                    <a:pt x="5161112" y="5360463"/>
                  </a:lnTo>
                  <a:lnTo>
                    <a:pt x="5115091" y="5369131"/>
                  </a:lnTo>
                  <a:lnTo>
                    <a:pt x="5067300" y="5372100"/>
                  </a:lnTo>
                  <a:close/>
                </a:path>
              </a:pathLst>
            </a:custGeom>
            <a:solidFill>
              <a:srgbClr val="7566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19849" y="4248149"/>
              <a:ext cx="5448300" cy="5372100"/>
            </a:xfrm>
            <a:custGeom>
              <a:avLst/>
              <a:gdLst/>
              <a:ahLst/>
              <a:cxnLst/>
              <a:rect l="l" t="t" r="r" b="b"/>
              <a:pathLst>
                <a:path w="5448300" h="5372100">
                  <a:moveTo>
                    <a:pt x="380999" y="0"/>
                  </a:moveTo>
                  <a:lnTo>
                    <a:pt x="5067299" y="0"/>
                  </a:lnTo>
                  <a:lnTo>
                    <a:pt x="5115091" y="2968"/>
                  </a:lnTo>
                  <a:lnTo>
                    <a:pt x="5161111" y="11635"/>
                  </a:lnTo>
                  <a:lnTo>
                    <a:pt x="5205003" y="25645"/>
                  </a:lnTo>
                  <a:lnTo>
                    <a:pt x="5246409" y="44639"/>
                  </a:lnTo>
                  <a:lnTo>
                    <a:pt x="5284972" y="68262"/>
                  </a:lnTo>
                  <a:lnTo>
                    <a:pt x="5320336" y="96155"/>
                  </a:lnTo>
                  <a:lnTo>
                    <a:pt x="5352143" y="127962"/>
                  </a:lnTo>
                  <a:lnTo>
                    <a:pt x="5380036" y="163326"/>
                  </a:lnTo>
                  <a:lnTo>
                    <a:pt x="5403659" y="201889"/>
                  </a:lnTo>
                  <a:lnTo>
                    <a:pt x="5422653" y="243295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0999"/>
                  </a:lnTo>
                  <a:lnTo>
                    <a:pt x="5448299" y="4991099"/>
                  </a:lnTo>
                  <a:lnTo>
                    <a:pt x="5445331" y="5038891"/>
                  </a:lnTo>
                  <a:lnTo>
                    <a:pt x="5436663" y="5084911"/>
                  </a:lnTo>
                  <a:lnTo>
                    <a:pt x="5422654" y="5128803"/>
                  </a:lnTo>
                  <a:lnTo>
                    <a:pt x="5403659" y="5170209"/>
                  </a:lnTo>
                  <a:lnTo>
                    <a:pt x="5380037" y="5208773"/>
                  </a:lnTo>
                  <a:lnTo>
                    <a:pt x="5352143" y="5244136"/>
                  </a:lnTo>
                  <a:lnTo>
                    <a:pt x="5320336" y="5275943"/>
                  </a:lnTo>
                  <a:lnTo>
                    <a:pt x="5284972" y="5303837"/>
                  </a:lnTo>
                  <a:lnTo>
                    <a:pt x="5246409" y="5327459"/>
                  </a:lnTo>
                  <a:lnTo>
                    <a:pt x="5205003" y="5346454"/>
                  </a:lnTo>
                  <a:lnTo>
                    <a:pt x="5161111" y="5360463"/>
                  </a:lnTo>
                  <a:lnTo>
                    <a:pt x="5115091" y="5369131"/>
                  </a:lnTo>
                  <a:lnTo>
                    <a:pt x="5067299" y="5372099"/>
                  </a:lnTo>
                  <a:lnTo>
                    <a:pt x="380999" y="5372099"/>
                  </a:lnTo>
                  <a:lnTo>
                    <a:pt x="333207" y="5369131"/>
                  </a:lnTo>
                  <a:lnTo>
                    <a:pt x="287187" y="5360463"/>
                  </a:lnTo>
                  <a:lnTo>
                    <a:pt x="243295" y="5346453"/>
                  </a:lnTo>
                  <a:lnTo>
                    <a:pt x="201889" y="5327459"/>
                  </a:lnTo>
                  <a:lnTo>
                    <a:pt x="163326" y="5303836"/>
                  </a:lnTo>
                  <a:lnTo>
                    <a:pt x="127962" y="5275943"/>
                  </a:lnTo>
                  <a:lnTo>
                    <a:pt x="96155" y="5244136"/>
                  </a:lnTo>
                  <a:lnTo>
                    <a:pt x="68262" y="5208772"/>
                  </a:lnTo>
                  <a:lnTo>
                    <a:pt x="44639" y="5170209"/>
                  </a:lnTo>
                  <a:lnTo>
                    <a:pt x="25645" y="5128803"/>
                  </a:lnTo>
                  <a:lnTo>
                    <a:pt x="11636" y="5084911"/>
                  </a:lnTo>
                  <a:lnTo>
                    <a:pt x="2968" y="5038891"/>
                  </a:lnTo>
                  <a:lnTo>
                    <a:pt x="0" y="499109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5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144375" y="4219575"/>
            <a:ext cx="5505450" cy="5429250"/>
            <a:chOff x="12144375" y="4219575"/>
            <a:chExt cx="5505450" cy="5429250"/>
          </a:xfrm>
        </p:grpSpPr>
        <p:sp>
          <p:nvSpPr>
            <p:cNvPr id="7" name="object 7"/>
            <p:cNvSpPr/>
            <p:nvPr/>
          </p:nvSpPr>
          <p:spPr>
            <a:xfrm>
              <a:off x="12172949" y="4248149"/>
              <a:ext cx="5448300" cy="5372100"/>
            </a:xfrm>
            <a:custGeom>
              <a:avLst/>
              <a:gdLst/>
              <a:ahLst/>
              <a:cxnLst/>
              <a:rect l="l" t="t" r="r" b="b"/>
              <a:pathLst>
                <a:path w="5448300" h="5372100">
                  <a:moveTo>
                    <a:pt x="5067300" y="5372100"/>
                  </a:moveTo>
                  <a:lnTo>
                    <a:pt x="381000" y="5372100"/>
                  </a:lnTo>
                  <a:lnTo>
                    <a:pt x="333208" y="5369131"/>
                  </a:lnTo>
                  <a:lnTo>
                    <a:pt x="287187" y="5360463"/>
                  </a:lnTo>
                  <a:lnTo>
                    <a:pt x="243296" y="5346454"/>
                  </a:lnTo>
                  <a:lnTo>
                    <a:pt x="201889" y="5327459"/>
                  </a:lnTo>
                  <a:lnTo>
                    <a:pt x="163326" y="5303837"/>
                  </a:lnTo>
                  <a:lnTo>
                    <a:pt x="127962" y="5275944"/>
                  </a:lnTo>
                  <a:lnTo>
                    <a:pt x="96155" y="5244137"/>
                  </a:lnTo>
                  <a:lnTo>
                    <a:pt x="68262" y="5208773"/>
                  </a:lnTo>
                  <a:lnTo>
                    <a:pt x="44640" y="5170210"/>
                  </a:lnTo>
                  <a:lnTo>
                    <a:pt x="25645" y="5128803"/>
                  </a:lnTo>
                  <a:lnTo>
                    <a:pt x="11636" y="5084912"/>
                  </a:lnTo>
                  <a:lnTo>
                    <a:pt x="2968" y="5038891"/>
                  </a:lnTo>
                  <a:lnTo>
                    <a:pt x="0" y="4991100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1000" y="0"/>
                  </a:lnTo>
                  <a:lnTo>
                    <a:pt x="5067300" y="0"/>
                  </a:lnTo>
                  <a:lnTo>
                    <a:pt x="5115091" y="2968"/>
                  </a:lnTo>
                  <a:lnTo>
                    <a:pt x="5161112" y="11636"/>
                  </a:lnTo>
                  <a:lnTo>
                    <a:pt x="5205003" y="25645"/>
                  </a:lnTo>
                  <a:lnTo>
                    <a:pt x="5246410" y="44640"/>
                  </a:lnTo>
                  <a:lnTo>
                    <a:pt x="5284973" y="68262"/>
                  </a:lnTo>
                  <a:lnTo>
                    <a:pt x="5320337" y="96155"/>
                  </a:lnTo>
                  <a:lnTo>
                    <a:pt x="5352144" y="127962"/>
                  </a:lnTo>
                  <a:lnTo>
                    <a:pt x="5380037" y="163326"/>
                  </a:lnTo>
                  <a:lnTo>
                    <a:pt x="5403659" y="201889"/>
                  </a:lnTo>
                  <a:lnTo>
                    <a:pt x="5422654" y="243296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300" y="381000"/>
                  </a:lnTo>
                  <a:lnTo>
                    <a:pt x="5448300" y="4991100"/>
                  </a:lnTo>
                  <a:lnTo>
                    <a:pt x="5445331" y="5038891"/>
                  </a:lnTo>
                  <a:lnTo>
                    <a:pt x="5436663" y="5084912"/>
                  </a:lnTo>
                  <a:lnTo>
                    <a:pt x="5422654" y="5128803"/>
                  </a:lnTo>
                  <a:lnTo>
                    <a:pt x="5403659" y="5170210"/>
                  </a:lnTo>
                  <a:lnTo>
                    <a:pt x="5380037" y="5208773"/>
                  </a:lnTo>
                  <a:lnTo>
                    <a:pt x="5352144" y="5244137"/>
                  </a:lnTo>
                  <a:lnTo>
                    <a:pt x="5320337" y="5275944"/>
                  </a:lnTo>
                  <a:lnTo>
                    <a:pt x="5284973" y="5303837"/>
                  </a:lnTo>
                  <a:lnTo>
                    <a:pt x="5246410" y="5327459"/>
                  </a:lnTo>
                  <a:lnTo>
                    <a:pt x="5205003" y="5346454"/>
                  </a:lnTo>
                  <a:lnTo>
                    <a:pt x="5161112" y="5360463"/>
                  </a:lnTo>
                  <a:lnTo>
                    <a:pt x="5115091" y="5369131"/>
                  </a:lnTo>
                  <a:lnTo>
                    <a:pt x="5067300" y="5372100"/>
                  </a:lnTo>
                  <a:close/>
                </a:path>
              </a:pathLst>
            </a:custGeom>
            <a:solidFill>
              <a:srgbClr val="7566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72949" y="4248149"/>
              <a:ext cx="5448300" cy="5372100"/>
            </a:xfrm>
            <a:custGeom>
              <a:avLst/>
              <a:gdLst/>
              <a:ahLst/>
              <a:cxnLst/>
              <a:rect l="l" t="t" r="r" b="b"/>
              <a:pathLst>
                <a:path w="5448300" h="5372100">
                  <a:moveTo>
                    <a:pt x="380999" y="0"/>
                  </a:moveTo>
                  <a:lnTo>
                    <a:pt x="5067299" y="0"/>
                  </a:lnTo>
                  <a:lnTo>
                    <a:pt x="5115090" y="2968"/>
                  </a:lnTo>
                  <a:lnTo>
                    <a:pt x="5161111" y="11635"/>
                  </a:lnTo>
                  <a:lnTo>
                    <a:pt x="5205002" y="25645"/>
                  </a:lnTo>
                  <a:lnTo>
                    <a:pt x="5246409" y="44639"/>
                  </a:lnTo>
                  <a:lnTo>
                    <a:pt x="5284972" y="68262"/>
                  </a:lnTo>
                  <a:lnTo>
                    <a:pt x="5320336" y="96155"/>
                  </a:lnTo>
                  <a:lnTo>
                    <a:pt x="5352143" y="127962"/>
                  </a:lnTo>
                  <a:lnTo>
                    <a:pt x="5380036" y="163326"/>
                  </a:lnTo>
                  <a:lnTo>
                    <a:pt x="5403659" y="201889"/>
                  </a:lnTo>
                  <a:lnTo>
                    <a:pt x="5422653" y="243295"/>
                  </a:lnTo>
                  <a:lnTo>
                    <a:pt x="5436663" y="287187"/>
                  </a:lnTo>
                  <a:lnTo>
                    <a:pt x="5445331" y="333208"/>
                  </a:lnTo>
                  <a:lnTo>
                    <a:pt x="5448299" y="380999"/>
                  </a:lnTo>
                  <a:lnTo>
                    <a:pt x="5448299" y="4991099"/>
                  </a:lnTo>
                  <a:lnTo>
                    <a:pt x="5445331" y="5038891"/>
                  </a:lnTo>
                  <a:lnTo>
                    <a:pt x="5436663" y="5084911"/>
                  </a:lnTo>
                  <a:lnTo>
                    <a:pt x="5422654" y="5128803"/>
                  </a:lnTo>
                  <a:lnTo>
                    <a:pt x="5403659" y="5170209"/>
                  </a:lnTo>
                  <a:lnTo>
                    <a:pt x="5380037" y="5208773"/>
                  </a:lnTo>
                  <a:lnTo>
                    <a:pt x="5352143" y="5244136"/>
                  </a:lnTo>
                  <a:lnTo>
                    <a:pt x="5320336" y="5275944"/>
                  </a:lnTo>
                  <a:lnTo>
                    <a:pt x="5284972" y="5303837"/>
                  </a:lnTo>
                  <a:lnTo>
                    <a:pt x="5246409" y="5327459"/>
                  </a:lnTo>
                  <a:lnTo>
                    <a:pt x="5205003" y="5346454"/>
                  </a:lnTo>
                  <a:lnTo>
                    <a:pt x="5161111" y="5360463"/>
                  </a:lnTo>
                  <a:lnTo>
                    <a:pt x="5115090" y="5369131"/>
                  </a:lnTo>
                  <a:lnTo>
                    <a:pt x="5067299" y="5372099"/>
                  </a:lnTo>
                  <a:lnTo>
                    <a:pt x="380999" y="5372099"/>
                  </a:lnTo>
                  <a:lnTo>
                    <a:pt x="333207" y="5369131"/>
                  </a:lnTo>
                  <a:lnTo>
                    <a:pt x="287187" y="5360463"/>
                  </a:lnTo>
                  <a:lnTo>
                    <a:pt x="243295" y="5346453"/>
                  </a:lnTo>
                  <a:lnTo>
                    <a:pt x="201889" y="5327459"/>
                  </a:lnTo>
                  <a:lnTo>
                    <a:pt x="163326" y="5303836"/>
                  </a:lnTo>
                  <a:lnTo>
                    <a:pt x="127962" y="5275943"/>
                  </a:lnTo>
                  <a:lnTo>
                    <a:pt x="96155" y="5244136"/>
                  </a:lnTo>
                  <a:lnTo>
                    <a:pt x="68262" y="5208772"/>
                  </a:lnTo>
                  <a:lnTo>
                    <a:pt x="44639" y="5170209"/>
                  </a:lnTo>
                  <a:lnTo>
                    <a:pt x="25645" y="5128803"/>
                  </a:lnTo>
                  <a:lnTo>
                    <a:pt x="11636" y="5084911"/>
                  </a:lnTo>
                  <a:lnTo>
                    <a:pt x="2968" y="5038891"/>
                  </a:lnTo>
                  <a:lnTo>
                    <a:pt x="0" y="499109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5" y="25645"/>
                  </a:lnTo>
                  <a:lnTo>
                    <a:pt x="287187" y="11636"/>
                  </a:lnTo>
                  <a:lnTo>
                    <a:pt x="333207" y="2968"/>
                  </a:lnTo>
                  <a:lnTo>
                    <a:pt x="380999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19575"/>
            <a:ext cx="6143624" cy="5429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386" y="5984725"/>
            <a:ext cx="3830954" cy="275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5"/>
              </a:spcBef>
            </a:pPr>
            <a:r>
              <a:rPr sz="2350" spc="-150" dirty="0">
                <a:solidFill>
                  <a:srgbClr val="F9F7F7"/>
                </a:solidFill>
                <a:latin typeface="Verdana"/>
                <a:cs typeface="Verdana"/>
              </a:rPr>
              <a:t>The</a:t>
            </a:r>
            <a:r>
              <a:rPr sz="2350" spc="-33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60" dirty="0">
                <a:solidFill>
                  <a:srgbClr val="F9F7F7"/>
                </a:solidFill>
                <a:latin typeface="Verdana"/>
                <a:cs typeface="Verdana"/>
              </a:rPr>
              <a:t>classification</a:t>
            </a:r>
            <a:r>
              <a:rPr sz="2350" spc="-33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10" dirty="0">
                <a:solidFill>
                  <a:srgbClr val="F9F7F7"/>
                </a:solidFill>
                <a:latin typeface="Verdana"/>
                <a:cs typeface="Verdana"/>
              </a:rPr>
              <a:t>system</a:t>
            </a:r>
            <a:r>
              <a:rPr sz="2350" spc="-3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9F7F7"/>
                </a:solidFill>
                <a:latin typeface="Verdana"/>
                <a:cs typeface="Verdana"/>
              </a:rPr>
              <a:t>can </a:t>
            </a:r>
            <a:r>
              <a:rPr sz="2350" spc="-110" dirty="0">
                <a:solidFill>
                  <a:srgbClr val="F9F7F7"/>
                </a:solidFill>
                <a:latin typeface="Verdana"/>
                <a:cs typeface="Verdana"/>
              </a:rPr>
              <a:t>be</a:t>
            </a:r>
            <a:r>
              <a:rPr sz="235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60" dirty="0">
                <a:solidFill>
                  <a:srgbClr val="F9F7F7"/>
                </a:solidFill>
                <a:latin typeface="Verdana"/>
                <a:cs typeface="Verdana"/>
              </a:rPr>
              <a:t>applied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95" dirty="0">
                <a:solidFill>
                  <a:srgbClr val="F9F7F7"/>
                </a:solidFill>
                <a:latin typeface="Verdana"/>
                <a:cs typeface="Verdana"/>
              </a:rPr>
              <a:t>in</a:t>
            </a:r>
            <a:r>
              <a:rPr sz="2350" spc="-4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04" dirty="0">
                <a:solidFill>
                  <a:srgbClr val="F9F7F7"/>
                </a:solidFill>
                <a:latin typeface="Verdana"/>
                <a:cs typeface="Verdana"/>
              </a:rPr>
              <a:t>various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00" dirty="0">
                <a:solidFill>
                  <a:srgbClr val="F9F7F7"/>
                </a:solidFill>
                <a:latin typeface="Verdana"/>
                <a:cs typeface="Verdana"/>
              </a:rPr>
              <a:t>domains, </a:t>
            </a:r>
            <a:r>
              <a:rPr sz="2350" spc="-150" dirty="0">
                <a:solidFill>
                  <a:srgbClr val="F9F7F7"/>
                </a:solidFill>
                <a:latin typeface="Verdana"/>
                <a:cs typeface="Verdana"/>
              </a:rPr>
              <a:t>such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as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b="1" spc="-245" dirty="0">
                <a:solidFill>
                  <a:srgbClr val="F9F7F7"/>
                </a:solidFill>
                <a:latin typeface="Verdana"/>
                <a:cs typeface="Verdana"/>
              </a:rPr>
              <a:t>biometric</a:t>
            </a:r>
            <a:r>
              <a:rPr sz="2350" b="1" spc="-31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b="1" spc="-285" dirty="0">
                <a:solidFill>
                  <a:srgbClr val="F9F7F7"/>
                </a:solidFill>
                <a:latin typeface="Verdana"/>
                <a:cs typeface="Verdana"/>
              </a:rPr>
              <a:t>systems</a:t>
            </a:r>
            <a:r>
              <a:rPr sz="2350" spc="-285" dirty="0">
                <a:solidFill>
                  <a:srgbClr val="F9F7F7"/>
                </a:solidFill>
                <a:latin typeface="Verdana"/>
                <a:cs typeface="Verdana"/>
              </a:rPr>
              <a:t>, </a:t>
            </a:r>
            <a:r>
              <a:rPr sz="2350" spc="-210" dirty="0">
                <a:solidFill>
                  <a:srgbClr val="F9F7F7"/>
                </a:solidFill>
                <a:latin typeface="Verdana"/>
                <a:cs typeface="Verdana"/>
              </a:rPr>
              <a:t>spam</a:t>
            </a:r>
            <a:r>
              <a:rPr sz="2350" spc="-37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90" dirty="0">
                <a:solidFill>
                  <a:srgbClr val="F9F7F7"/>
                </a:solidFill>
                <a:latin typeface="Verdana"/>
                <a:cs typeface="Verdana"/>
              </a:rPr>
              <a:t>filtering,</a:t>
            </a:r>
            <a:r>
              <a:rPr sz="235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and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9F7F7"/>
                </a:solidFill>
                <a:latin typeface="Verdana"/>
                <a:cs typeface="Verdana"/>
              </a:rPr>
              <a:t>adaptive </a:t>
            </a:r>
            <a:r>
              <a:rPr sz="2350" spc="-195" dirty="0">
                <a:solidFill>
                  <a:srgbClr val="F9F7F7"/>
                </a:solidFill>
                <a:latin typeface="Verdana"/>
                <a:cs typeface="Verdana"/>
              </a:rPr>
              <a:t>testing,</a:t>
            </a:r>
            <a:r>
              <a:rPr sz="2350" spc="-3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0" dirty="0">
                <a:solidFill>
                  <a:srgbClr val="F9F7F7"/>
                </a:solidFill>
                <a:latin typeface="Verdana"/>
                <a:cs typeface="Verdana"/>
              </a:rPr>
              <a:t>enhancing</a:t>
            </a:r>
            <a:r>
              <a:rPr sz="2350" spc="-3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9F7F7"/>
                </a:solidFill>
                <a:latin typeface="Verdana"/>
                <a:cs typeface="Verdana"/>
              </a:rPr>
              <a:t>user </a:t>
            </a:r>
            <a:r>
              <a:rPr sz="2350" spc="-170" dirty="0">
                <a:solidFill>
                  <a:srgbClr val="F9F7F7"/>
                </a:solidFill>
                <a:latin typeface="Verdana"/>
                <a:cs typeface="Verdana"/>
              </a:rPr>
              <a:t>experience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and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85" dirty="0">
                <a:solidFill>
                  <a:srgbClr val="F9F7F7"/>
                </a:solidFill>
                <a:latin typeface="Verdana"/>
                <a:cs typeface="Verdana"/>
              </a:rPr>
              <a:t>performance </a:t>
            </a:r>
            <a:r>
              <a:rPr sz="2350" spc="-140" dirty="0">
                <a:solidFill>
                  <a:srgbClr val="F9F7F7"/>
                </a:solidFill>
                <a:latin typeface="Verdana"/>
                <a:cs typeface="Verdana"/>
              </a:rPr>
              <a:t>measurement.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79386" y="5111750"/>
            <a:ext cx="3792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00" dirty="0">
                <a:solidFill>
                  <a:srgbClr val="F9F7F7"/>
                </a:solidFill>
                <a:latin typeface="Cambria"/>
                <a:cs typeface="Cambria"/>
              </a:rPr>
              <a:t>Broader</a:t>
            </a:r>
            <a:r>
              <a:rPr sz="3000" spc="210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spc="110" dirty="0">
                <a:solidFill>
                  <a:srgbClr val="F9F7F7"/>
                </a:solidFill>
                <a:latin typeface="Cambria"/>
                <a:cs typeface="Cambria"/>
              </a:rPr>
              <a:t>Applications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45337" y="5984671"/>
            <a:ext cx="3778250" cy="275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5"/>
              </a:spcBef>
            </a:pPr>
            <a:r>
              <a:rPr sz="2350" spc="-175" dirty="0">
                <a:solidFill>
                  <a:srgbClr val="F9F7F7"/>
                </a:solidFill>
                <a:latin typeface="Verdana"/>
                <a:cs typeface="Verdana"/>
              </a:rPr>
              <a:t>Outputs</a:t>
            </a:r>
            <a:r>
              <a:rPr sz="235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70" dirty="0">
                <a:solidFill>
                  <a:srgbClr val="F9F7F7"/>
                </a:solidFill>
                <a:latin typeface="Verdana"/>
                <a:cs typeface="Verdana"/>
              </a:rPr>
              <a:t>generated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95" dirty="0">
                <a:solidFill>
                  <a:srgbClr val="F9F7F7"/>
                </a:solidFill>
                <a:latin typeface="Verdana"/>
                <a:cs typeface="Verdana"/>
              </a:rPr>
              <a:t>from</a:t>
            </a:r>
            <a:r>
              <a:rPr sz="235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9F7F7"/>
                </a:solidFill>
                <a:latin typeface="Verdana"/>
                <a:cs typeface="Verdana"/>
              </a:rPr>
              <a:t>the </a:t>
            </a:r>
            <a:r>
              <a:rPr sz="2350" spc="-160" dirty="0">
                <a:solidFill>
                  <a:srgbClr val="F9F7F7"/>
                </a:solidFill>
                <a:latin typeface="Verdana"/>
                <a:cs typeface="Verdana"/>
              </a:rPr>
              <a:t>classification</a:t>
            </a:r>
            <a:r>
              <a:rPr sz="2350" spc="-32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45" dirty="0">
                <a:solidFill>
                  <a:srgbClr val="F9F7F7"/>
                </a:solidFill>
                <a:latin typeface="Verdana"/>
                <a:cs typeface="Verdana"/>
              </a:rPr>
              <a:t>process</a:t>
            </a:r>
            <a:r>
              <a:rPr sz="2350" spc="-32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85" dirty="0">
                <a:solidFill>
                  <a:srgbClr val="F9F7F7"/>
                </a:solidFill>
                <a:latin typeface="Verdana"/>
                <a:cs typeface="Verdana"/>
              </a:rPr>
              <a:t>include </a:t>
            </a:r>
            <a:r>
              <a:rPr sz="2350" spc="-155" dirty="0">
                <a:solidFill>
                  <a:srgbClr val="F9F7F7"/>
                </a:solidFill>
                <a:latin typeface="Verdana"/>
                <a:cs typeface="Verdana"/>
              </a:rPr>
              <a:t>predefined</a:t>
            </a:r>
            <a:r>
              <a:rPr sz="235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90" dirty="0">
                <a:solidFill>
                  <a:srgbClr val="F9F7F7"/>
                </a:solidFill>
                <a:latin typeface="Verdana"/>
                <a:cs typeface="Verdana"/>
              </a:rPr>
              <a:t>skill</a:t>
            </a:r>
            <a:r>
              <a:rPr sz="2350" spc="-36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80" dirty="0">
                <a:solidFill>
                  <a:srgbClr val="F9F7F7"/>
                </a:solidFill>
                <a:latin typeface="Verdana"/>
                <a:cs typeface="Verdana"/>
              </a:rPr>
              <a:t>levels: </a:t>
            </a:r>
            <a:r>
              <a:rPr sz="2350" b="1" spc="-280" dirty="0">
                <a:solidFill>
                  <a:srgbClr val="F9F7F7"/>
                </a:solidFill>
                <a:latin typeface="Verdana"/>
                <a:cs typeface="Verdana"/>
              </a:rPr>
              <a:t>Beginner</a:t>
            </a:r>
            <a:r>
              <a:rPr sz="2350" spc="-280" dirty="0">
                <a:solidFill>
                  <a:srgbClr val="F9F7F7"/>
                </a:solidFill>
                <a:latin typeface="Verdana"/>
                <a:cs typeface="Verdana"/>
              </a:rPr>
              <a:t>,</a:t>
            </a:r>
            <a:r>
              <a:rPr sz="2350" spc="-38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b="1" spc="-300" dirty="0">
                <a:solidFill>
                  <a:srgbClr val="F9F7F7"/>
                </a:solidFill>
                <a:latin typeface="Verdana"/>
                <a:cs typeface="Verdana"/>
              </a:rPr>
              <a:t>Intermediate</a:t>
            </a:r>
            <a:r>
              <a:rPr sz="2350" spc="-300" dirty="0">
                <a:solidFill>
                  <a:srgbClr val="F9F7F7"/>
                </a:solidFill>
                <a:latin typeface="Verdana"/>
                <a:cs typeface="Verdana"/>
              </a:rPr>
              <a:t>,</a:t>
            </a:r>
            <a:r>
              <a:rPr sz="2350" spc="-38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20" dirty="0">
                <a:solidFill>
                  <a:srgbClr val="F9F7F7"/>
                </a:solidFill>
                <a:latin typeface="Verdana"/>
                <a:cs typeface="Verdana"/>
              </a:rPr>
              <a:t>and </a:t>
            </a:r>
            <a:r>
              <a:rPr sz="2350" b="1" spc="-270" dirty="0">
                <a:solidFill>
                  <a:srgbClr val="F9F7F7"/>
                </a:solidFill>
                <a:latin typeface="Verdana"/>
                <a:cs typeface="Verdana"/>
              </a:rPr>
              <a:t>Advanced</a:t>
            </a:r>
            <a:r>
              <a:rPr sz="2350" spc="-270" dirty="0">
                <a:solidFill>
                  <a:srgbClr val="F9F7F7"/>
                </a:solidFill>
                <a:latin typeface="Verdana"/>
                <a:cs typeface="Verdana"/>
              </a:rPr>
              <a:t>,</a:t>
            </a:r>
            <a:r>
              <a:rPr sz="2350" spc="-38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75" dirty="0">
                <a:solidFill>
                  <a:srgbClr val="F9F7F7"/>
                </a:solidFill>
                <a:latin typeface="Verdana"/>
                <a:cs typeface="Verdana"/>
              </a:rPr>
              <a:t>guiding</a:t>
            </a:r>
            <a:r>
              <a:rPr sz="2350" spc="-37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9F7F7"/>
                </a:solidFill>
                <a:latin typeface="Verdana"/>
                <a:cs typeface="Verdana"/>
              </a:rPr>
              <a:t>users </a:t>
            </a:r>
            <a:r>
              <a:rPr sz="2350" spc="-195" dirty="0">
                <a:solidFill>
                  <a:srgbClr val="F9F7F7"/>
                </a:solidFill>
                <a:latin typeface="Verdana"/>
                <a:cs typeface="Verdana"/>
              </a:rPr>
              <a:t>toward</a:t>
            </a:r>
            <a:r>
              <a:rPr sz="2350" spc="-32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appropriate</a:t>
            </a:r>
            <a:r>
              <a:rPr sz="2350" spc="-32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60" dirty="0">
                <a:solidFill>
                  <a:srgbClr val="F9F7F7"/>
                </a:solidFill>
                <a:latin typeface="Verdana"/>
                <a:cs typeface="Verdana"/>
              </a:rPr>
              <a:t>training </a:t>
            </a:r>
            <a:r>
              <a:rPr sz="2350" spc="-90" dirty="0">
                <a:solidFill>
                  <a:srgbClr val="F9F7F7"/>
                </a:solidFill>
                <a:latin typeface="Verdana"/>
                <a:cs typeface="Verdana"/>
              </a:rPr>
              <a:t>challenges.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5337" y="5111803"/>
            <a:ext cx="20237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95" dirty="0">
                <a:solidFill>
                  <a:srgbClr val="F9F7F7"/>
                </a:solidFill>
                <a:latin typeface="Cambria"/>
                <a:cs typeface="Cambria"/>
              </a:rPr>
              <a:t>Skill</a:t>
            </a:r>
            <a:r>
              <a:rPr sz="3000" spc="204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spc="95" dirty="0">
                <a:solidFill>
                  <a:srgbClr val="F9F7F7"/>
                </a:solidFill>
                <a:latin typeface="Cambria"/>
                <a:cs typeface="Cambria"/>
              </a:rPr>
              <a:t>Levels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3187" y="6765775"/>
            <a:ext cx="3996690" cy="197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5"/>
              </a:spcBef>
            </a:pPr>
            <a:r>
              <a:rPr sz="2350" spc="-150" dirty="0">
                <a:solidFill>
                  <a:srgbClr val="F9F7F7"/>
                </a:solidFill>
                <a:latin typeface="Verdana"/>
                <a:cs typeface="Verdana"/>
              </a:rPr>
              <a:t>The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20" dirty="0">
                <a:solidFill>
                  <a:srgbClr val="F9F7F7"/>
                </a:solidFill>
                <a:latin typeface="Verdana"/>
                <a:cs typeface="Verdana"/>
              </a:rPr>
              <a:t>primary</a:t>
            </a:r>
            <a:r>
              <a:rPr sz="2350" spc="-4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inputs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9F7F7"/>
                </a:solidFill>
                <a:latin typeface="Verdana"/>
                <a:cs typeface="Verdana"/>
              </a:rPr>
              <a:t>for </a:t>
            </a:r>
            <a:r>
              <a:rPr sz="2350" spc="-160" dirty="0">
                <a:solidFill>
                  <a:srgbClr val="F9F7F7"/>
                </a:solidFill>
                <a:latin typeface="Verdana"/>
                <a:cs typeface="Verdana"/>
              </a:rPr>
              <a:t>classification</a:t>
            </a:r>
            <a:r>
              <a:rPr sz="2350" spc="-34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00" dirty="0">
                <a:solidFill>
                  <a:srgbClr val="F9F7F7"/>
                </a:solidFill>
                <a:latin typeface="Verdana"/>
                <a:cs typeface="Verdana"/>
              </a:rPr>
              <a:t>are</a:t>
            </a:r>
            <a:r>
              <a:rPr sz="2350" spc="-3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0" dirty="0">
                <a:solidFill>
                  <a:srgbClr val="F9F7F7"/>
                </a:solidFill>
                <a:latin typeface="Verdana"/>
                <a:cs typeface="Verdana"/>
              </a:rPr>
              <a:t>typing</a:t>
            </a:r>
            <a:r>
              <a:rPr sz="2350" spc="-3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b="1" spc="-65" dirty="0">
                <a:solidFill>
                  <a:srgbClr val="F9F7F7"/>
                </a:solidFill>
                <a:latin typeface="Verdana"/>
                <a:cs typeface="Verdana"/>
              </a:rPr>
              <a:t>speed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and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b="1" spc="-245" dirty="0">
                <a:solidFill>
                  <a:srgbClr val="F9F7F7"/>
                </a:solidFill>
                <a:latin typeface="Verdana"/>
                <a:cs typeface="Verdana"/>
              </a:rPr>
              <a:t>accuracy</a:t>
            </a:r>
            <a:r>
              <a:rPr sz="2350" spc="-245" dirty="0">
                <a:solidFill>
                  <a:srgbClr val="F9F7F7"/>
                </a:solidFill>
                <a:latin typeface="Verdana"/>
                <a:cs typeface="Verdana"/>
              </a:rPr>
              <a:t>,</a:t>
            </a:r>
            <a:r>
              <a:rPr sz="2350" spc="-44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75" dirty="0">
                <a:solidFill>
                  <a:srgbClr val="F9F7F7"/>
                </a:solidFill>
                <a:latin typeface="Verdana"/>
                <a:cs typeface="Verdana"/>
              </a:rPr>
              <a:t>which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60" dirty="0">
                <a:solidFill>
                  <a:srgbClr val="F9F7F7"/>
                </a:solidFill>
                <a:latin typeface="Verdana"/>
                <a:cs typeface="Verdana"/>
              </a:rPr>
              <a:t>help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9F7F7"/>
                </a:solidFill>
                <a:latin typeface="Verdana"/>
                <a:cs typeface="Verdana"/>
              </a:rPr>
              <a:t>the </a:t>
            </a:r>
            <a:r>
              <a:rPr sz="2350" spc="-210" dirty="0">
                <a:solidFill>
                  <a:srgbClr val="F9F7F7"/>
                </a:solidFill>
                <a:latin typeface="Verdana"/>
                <a:cs typeface="Verdana"/>
              </a:rPr>
              <a:t>system</a:t>
            </a:r>
            <a:r>
              <a:rPr sz="2350" spc="-36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determine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55" dirty="0">
                <a:solidFill>
                  <a:srgbClr val="F9F7F7"/>
                </a:solidFill>
                <a:latin typeface="Verdana"/>
                <a:cs typeface="Verdana"/>
              </a:rPr>
              <a:t>the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90" dirty="0">
                <a:solidFill>
                  <a:srgbClr val="F9F7F7"/>
                </a:solidFill>
                <a:latin typeface="Verdana"/>
                <a:cs typeface="Verdana"/>
              </a:rPr>
              <a:t>skill</a:t>
            </a:r>
            <a:r>
              <a:rPr sz="2350" spc="-35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35" dirty="0">
                <a:solidFill>
                  <a:srgbClr val="F9F7F7"/>
                </a:solidFill>
                <a:latin typeface="Verdana"/>
                <a:cs typeface="Verdana"/>
              </a:rPr>
              <a:t>level </a:t>
            </a:r>
            <a:r>
              <a:rPr sz="2350" spc="-90" dirty="0">
                <a:solidFill>
                  <a:srgbClr val="F9F7F7"/>
                </a:solidFill>
                <a:latin typeface="Verdana"/>
                <a:cs typeface="Verdana"/>
              </a:rPr>
              <a:t>of</a:t>
            </a:r>
            <a:r>
              <a:rPr sz="2350" spc="-375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185" dirty="0">
                <a:solidFill>
                  <a:srgbClr val="F9F7F7"/>
                </a:solidFill>
                <a:latin typeface="Verdana"/>
                <a:cs typeface="Verdana"/>
              </a:rPr>
              <a:t>users</a:t>
            </a:r>
            <a:r>
              <a:rPr sz="2350" spc="-370" dirty="0">
                <a:solidFill>
                  <a:srgbClr val="F9F7F7"/>
                </a:solidFill>
                <a:latin typeface="Verdana"/>
                <a:cs typeface="Verdana"/>
              </a:rPr>
              <a:t> </a:t>
            </a:r>
            <a:r>
              <a:rPr sz="2350" spc="-85" dirty="0">
                <a:solidFill>
                  <a:srgbClr val="F9F7F7"/>
                </a:solidFill>
                <a:latin typeface="Verdana"/>
                <a:cs typeface="Verdana"/>
              </a:rPr>
              <a:t>effectively.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3187" y="5111750"/>
            <a:ext cx="2588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95" dirty="0">
                <a:solidFill>
                  <a:srgbClr val="F9F7F7"/>
                </a:solidFill>
                <a:latin typeface="Cambria"/>
                <a:cs typeface="Cambria"/>
              </a:rPr>
              <a:t>Input</a:t>
            </a:r>
            <a:r>
              <a:rPr sz="3000" spc="195" dirty="0">
                <a:solidFill>
                  <a:srgbClr val="F9F7F7"/>
                </a:solidFill>
                <a:latin typeface="Cambria"/>
                <a:cs typeface="Cambria"/>
              </a:rPr>
              <a:t> </a:t>
            </a:r>
            <a:r>
              <a:rPr sz="3000" spc="65" dirty="0">
                <a:solidFill>
                  <a:srgbClr val="F9F7F7"/>
                </a:solidFill>
                <a:latin typeface="Cambria"/>
                <a:cs typeface="Cambria"/>
              </a:rPr>
              <a:t>Features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8175" y="3324224"/>
            <a:ext cx="8382000" cy="6324600"/>
            <a:chOff x="638175" y="3324224"/>
            <a:chExt cx="8382000" cy="6324600"/>
          </a:xfrm>
        </p:grpSpPr>
        <p:sp>
          <p:nvSpPr>
            <p:cNvPr id="3" name="object 3"/>
            <p:cNvSpPr/>
            <p:nvPr/>
          </p:nvSpPr>
          <p:spPr>
            <a:xfrm>
              <a:off x="666750" y="3352800"/>
              <a:ext cx="8324215" cy="6267450"/>
            </a:xfrm>
            <a:custGeom>
              <a:avLst/>
              <a:gdLst/>
              <a:ahLst/>
              <a:cxnLst/>
              <a:rect l="l" t="t" r="r" b="b"/>
              <a:pathLst>
                <a:path w="8324215" h="6267450">
                  <a:moveTo>
                    <a:pt x="7943849" y="6267449"/>
                  </a:moveTo>
                  <a:lnTo>
                    <a:pt x="380999" y="6267449"/>
                  </a:lnTo>
                  <a:lnTo>
                    <a:pt x="333208" y="6264481"/>
                  </a:lnTo>
                  <a:lnTo>
                    <a:pt x="287187" y="6255813"/>
                  </a:lnTo>
                  <a:lnTo>
                    <a:pt x="243296" y="6241804"/>
                  </a:lnTo>
                  <a:lnTo>
                    <a:pt x="201890" y="6222809"/>
                  </a:lnTo>
                  <a:lnTo>
                    <a:pt x="163326" y="6199187"/>
                  </a:lnTo>
                  <a:lnTo>
                    <a:pt x="127962" y="6171294"/>
                  </a:lnTo>
                  <a:lnTo>
                    <a:pt x="96155" y="6139487"/>
                  </a:lnTo>
                  <a:lnTo>
                    <a:pt x="68262" y="6104123"/>
                  </a:lnTo>
                  <a:lnTo>
                    <a:pt x="44640" y="6065559"/>
                  </a:lnTo>
                  <a:lnTo>
                    <a:pt x="25645" y="6024153"/>
                  </a:lnTo>
                  <a:lnTo>
                    <a:pt x="11636" y="5980261"/>
                  </a:lnTo>
                  <a:lnTo>
                    <a:pt x="2968" y="5934241"/>
                  </a:lnTo>
                  <a:lnTo>
                    <a:pt x="0" y="5886449"/>
                  </a:lnTo>
                  <a:lnTo>
                    <a:pt x="0" y="381000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  <a:lnTo>
                    <a:pt x="7943849" y="0"/>
                  </a:lnTo>
                  <a:lnTo>
                    <a:pt x="7991641" y="2968"/>
                  </a:lnTo>
                  <a:lnTo>
                    <a:pt x="8037661" y="11636"/>
                  </a:lnTo>
                  <a:lnTo>
                    <a:pt x="8081553" y="25645"/>
                  </a:lnTo>
                  <a:lnTo>
                    <a:pt x="8122959" y="44640"/>
                  </a:lnTo>
                  <a:lnTo>
                    <a:pt x="8161523" y="68262"/>
                  </a:lnTo>
                  <a:lnTo>
                    <a:pt x="8196886" y="96155"/>
                  </a:lnTo>
                  <a:lnTo>
                    <a:pt x="8228693" y="127962"/>
                  </a:lnTo>
                  <a:lnTo>
                    <a:pt x="8256587" y="163326"/>
                  </a:lnTo>
                  <a:lnTo>
                    <a:pt x="8280209" y="201889"/>
                  </a:lnTo>
                  <a:lnTo>
                    <a:pt x="8299204" y="243296"/>
                  </a:lnTo>
                  <a:lnTo>
                    <a:pt x="8313213" y="287187"/>
                  </a:lnTo>
                  <a:lnTo>
                    <a:pt x="8321881" y="333208"/>
                  </a:lnTo>
                  <a:lnTo>
                    <a:pt x="8323956" y="366618"/>
                  </a:lnTo>
                  <a:lnTo>
                    <a:pt x="8323956" y="5900831"/>
                  </a:lnTo>
                  <a:lnTo>
                    <a:pt x="8313213" y="5980261"/>
                  </a:lnTo>
                  <a:lnTo>
                    <a:pt x="8299204" y="6024153"/>
                  </a:lnTo>
                  <a:lnTo>
                    <a:pt x="8280209" y="6065559"/>
                  </a:lnTo>
                  <a:lnTo>
                    <a:pt x="8256587" y="6104123"/>
                  </a:lnTo>
                  <a:lnTo>
                    <a:pt x="8228693" y="6139487"/>
                  </a:lnTo>
                  <a:lnTo>
                    <a:pt x="8196886" y="6171294"/>
                  </a:lnTo>
                  <a:lnTo>
                    <a:pt x="8161523" y="6199187"/>
                  </a:lnTo>
                  <a:lnTo>
                    <a:pt x="8122959" y="6222809"/>
                  </a:lnTo>
                  <a:lnTo>
                    <a:pt x="8081553" y="6241804"/>
                  </a:lnTo>
                  <a:lnTo>
                    <a:pt x="8037661" y="6255813"/>
                  </a:lnTo>
                  <a:lnTo>
                    <a:pt x="7991641" y="6264481"/>
                  </a:lnTo>
                  <a:lnTo>
                    <a:pt x="7943849" y="6267449"/>
                  </a:lnTo>
                  <a:close/>
                </a:path>
              </a:pathLst>
            </a:custGeom>
            <a:solidFill>
              <a:srgbClr val="E7D9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6749" y="3352799"/>
              <a:ext cx="8324850" cy="6267450"/>
            </a:xfrm>
            <a:custGeom>
              <a:avLst/>
              <a:gdLst/>
              <a:ahLst/>
              <a:cxnLst/>
              <a:rect l="l" t="t" r="r" b="b"/>
              <a:pathLst>
                <a:path w="8324850" h="6267450">
                  <a:moveTo>
                    <a:pt x="381000" y="0"/>
                  </a:moveTo>
                  <a:lnTo>
                    <a:pt x="7943849" y="0"/>
                  </a:lnTo>
                  <a:lnTo>
                    <a:pt x="7991641" y="2968"/>
                  </a:lnTo>
                  <a:lnTo>
                    <a:pt x="8037661" y="11636"/>
                  </a:lnTo>
                  <a:lnTo>
                    <a:pt x="8081553" y="25645"/>
                  </a:lnTo>
                  <a:lnTo>
                    <a:pt x="8122959" y="44640"/>
                  </a:lnTo>
                  <a:lnTo>
                    <a:pt x="8161522" y="68262"/>
                  </a:lnTo>
                  <a:lnTo>
                    <a:pt x="8196886" y="96155"/>
                  </a:lnTo>
                  <a:lnTo>
                    <a:pt x="8228693" y="127962"/>
                  </a:lnTo>
                  <a:lnTo>
                    <a:pt x="8256586" y="163326"/>
                  </a:lnTo>
                  <a:lnTo>
                    <a:pt x="8280209" y="201889"/>
                  </a:lnTo>
                  <a:lnTo>
                    <a:pt x="8299203" y="243295"/>
                  </a:lnTo>
                  <a:lnTo>
                    <a:pt x="8313213" y="287187"/>
                  </a:lnTo>
                  <a:lnTo>
                    <a:pt x="8321880" y="333208"/>
                  </a:lnTo>
                  <a:lnTo>
                    <a:pt x="8324849" y="380999"/>
                  </a:lnTo>
                  <a:lnTo>
                    <a:pt x="8324849" y="5886449"/>
                  </a:lnTo>
                  <a:lnTo>
                    <a:pt x="8321880" y="5934241"/>
                  </a:lnTo>
                  <a:lnTo>
                    <a:pt x="8313213" y="5980261"/>
                  </a:lnTo>
                  <a:lnTo>
                    <a:pt x="8299203" y="6024153"/>
                  </a:lnTo>
                  <a:lnTo>
                    <a:pt x="8280209" y="6065559"/>
                  </a:lnTo>
                  <a:lnTo>
                    <a:pt x="8256586" y="6104123"/>
                  </a:lnTo>
                  <a:lnTo>
                    <a:pt x="8228693" y="6139486"/>
                  </a:lnTo>
                  <a:lnTo>
                    <a:pt x="8196886" y="6171293"/>
                  </a:lnTo>
                  <a:lnTo>
                    <a:pt x="8161522" y="6199187"/>
                  </a:lnTo>
                  <a:lnTo>
                    <a:pt x="8122959" y="6222809"/>
                  </a:lnTo>
                  <a:lnTo>
                    <a:pt x="8081553" y="6241803"/>
                  </a:lnTo>
                  <a:lnTo>
                    <a:pt x="8037661" y="6255813"/>
                  </a:lnTo>
                  <a:lnTo>
                    <a:pt x="7991641" y="6264481"/>
                  </a:lnTo>
                  <a:lnTo>
                    <a:pt x="7943849" y="6267449"/>
                  </a:lnTo>
                  <a:lnTo>
                    <a:pt x="381000" y="6267449"/>
                  </a:lnTo>
                  <a:lnTo>
                    <a:pt x="333208" y="6264481"/>
                  </a:lnTo>
                  <a:lnTo>
                    <a:pt x="287187" y="6255813"/>
                  </a:lnTo>
                  <a:lnTo>
                    <a:pt x="243296" y="6241803"/>
                  </a:lnTo>
                  <a:lnTo>
                    <a:pt x="201889" y="6222809"/>
                  </a:lnTo>
                  <a:lnTo>
                    <a:pt x="163326" y="6199187"/>
                  </a:lnTo>
                  <a:lnTo>
                    <a:pt x="127962" y="6171293"/>
                  </a:lnTo>
                  <a:lnTo>
                    <a:pt x="96155" y="6139486"/>
                  </a:lnTo>
                  <a:lnTo>
                    <a:pt x="68262" y="6104122"/>
                  </a:lnTo>
                  <a:lnTo>
                    <a:pt x="44639" y="6065559"/>
                  </a:lnTo>
                  <a:lnTo>
                    <a:pt x="25645" y="6024153"/>
                  </a:lnTo>
                  <a:lnTo>
                    <a:pt x="11636" y="5980261"/>
                  </a:lnTo>
                  <a:lnTo>
                    <a:pt x="2968" y="5934240"/>
                  </a:lnTo>
                  <a:lnTo>
                    <a:pt x="0" y="588644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5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90" y="44640"/>
                  </a:lnTo>
                  <a:lnTo>
                    <a:pt x="243296" y="25645"/>
                  </a:lnTo>
                  <a:lnTo>
                    <a:pt x="287188" y="11636"/>
                  </a:lnTo>
                  <a:lnTo>
                    <a:pt x="333208" y="2968"/>
                  </a:lnTo>
                  <a:lnTo>
                    <a:pt x="38100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825" y="3324224"/>
            <a:ext cx="9020174" cy="63245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33259" y="599581"/>
            <a:ext cx="12421235" cy="2362200"/>
          </a:xfrm>
          <a:prstGeom prst="rect">
            <a:avLst/>
          </a:prstGeom>
        </p:spPr>
        <p:txBody>
          <a:bodyPr vert="horz" wrap="square" lIns="0" tIns="232410" rIns="0" bIns="0" rtlCol="0">
            <a:spAutoFit/>
          </a:bodyPr>
          <a:lstStyle/>
          <a:p>
            <a:pPr marL="3908425" marR="5080" indent="-3896360">
              <a:lnSpc>
                <a:spcPts val="8330"/>
              </a:lnSpc>
              <a:spcBef>
                <a:spcPts val="1830"/>
              </a:spcBef>
            </a:pPr>
            <a:r>
              <a:rPr sz="8400" spc="-155" dirty="0"/>
              <a:t>Regression</a:t>
            </a:r>
            <a:r>
              <a:rPr sz="8400" spc="-310" dirty="0"/>
              <a:t> </a:t>
            </a:r>
            <a:r>
              <a:rPr sz="8400" spc="-60" dirty="0"/>
              <a:t>for</a:t>
            </a:r>
            <a:r>
              <a:rPr sz="8400" spc="-325" dirty="0"/>
              <a:t> </a:t>
            </a:r>
            <a:r>
              <a:rPr sz="8400" spc="-45" dirty="0"/>
              <a:t>Performance </a:t>
            </a:r>
            <a:r>
              <a:rPr sz="8400" spc="-25" dirty="0"/>
              <a:t>Prediction</a:t>
            </a:r>
            <a:endParaRPr sz="8400"/>
          </a:p>
        </p:txBody>
      </p:sp>
      <p:sp>
        <p:nvSpPr>
          <p:cNvPr id="7" name="object 7"/>
          <p:cNvSpPr txBox="1"/>
          <p:nvPr/>
        </p:nvSpPr>
        <p:spPr>
          <a:xfrm>
            <a:off x="1787525" y="4216400"/>
            <a:ext cx="5626735" cy="285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>
                <a:solidFill>
                  <a:srgbClr val="17120A"/>
                </a:solidFill>
                <a:latin typeface="Cambria"/>
                <a:cs typeface="Cambria"/>
              </a:rPr>
              <a:t>Learning</a:t>
            </a:r>
            <a:r>
              <a:rPr sz="3000" spc="210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80" dirty="0">
                <a:solidFill>
                  <a:srgbClr val="17120A"/>
                </a:solidFill>
                <a:latin typeface="Cambria"/>
                <a:cs typeface="Cambria"/>
              </a:rPr>
              <a:t>from</a:t>
            </a:r>
            <a:r>
              <a:rPr sz="3000" spc="210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155" dirty="0">
                <a:solidFill>
                  <a:srgbClr val="17120A"/>
                </a:solidFill>
                <a:latin typeface="Cambria"/>
                <a:cs typeface="Cambria"/>
              </a:rPr>
              <a:t>Data</a:t>
            </a:r>
            <a:endParaRPr sz="3000">
              <a:latin typeface="Cambria"/>
              <a:cs typeface="Cambria"/>
            </a:endParaRPr>
          </a:p>
          <a:p>
            <a:pPr marL="12700" marR="5080">
              <a:lnSpc>
                <a:spcPct val="106800"/>
              </a:lnSpc>
              <a:spcBef>
                <a:spcPts val="3279"/>
              </a:spcBef>
            </a:pP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Regression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25" dirty="0">
                <a:solidFill>
                  <a:srgbClr val="17120A"/>
                </a:solidFill>
                <a:latin typeface="Verdana"/>
                <a:cs typeface="Verdana"/>
              </a:rPr>
              <a:t>analyzes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past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and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7120A"/>
                </a:solidFill>
                <a:latin typeface="Verdana"/>
                <a:cs typeface="Verdana"/>
              </a:rPr>
              <a:t>current </a:t>
            </a:r>
            <a:r>
              <a:rPr sz="2400" spc="-190" dirty="0">
                <a:solidFill>
                  <a:srgbClr val="17120A"/>
                </a:solidFill>
                <a:latin typeface="Verdana"/>
                <a:cs typeface="Verdana"/>
              </a:rPr>
              <a:t>performance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metrics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17120A"/>
                </a:solidFill>
                <a:latin typeface="Verdana"/>
                <a:cs typeface="Verdana"/>
              </a:rPr>
              <a:t>to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17120A"/>
                </a:solidFill>
                <a:latin typeface="Verdana"/>
                <a:cs typeface="Verdana"/>
              </a:rPr>
              <a:t>accurately </a:t>
            </a:r>
            <a:r>
              <a:rPr sz="2400" b="1" spc="-265" dirty="0">
                <a:solidFill>
                  <a:srgbClr val="17120A"/>
                </a:solidFill>
                <a:latin typeface="Verdana"/>
                <a:cs typeface="Verdana"/>
              </a:rPr>
              <a:t>estimate</a:t>
            </a:r>
            <a:r>
              <a:rPr sz="2400" b="1" spc="-3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54" dirty="0">
                <a:solidFill>
                  <a:srgbClr val="17120A"/>
                </a:solidFill>
                <a:latin typeface="Verdana"/>
                <a:cs typeface="Verdana"/>
              </a:rPr>
              <a:t>future</a:t>
            </a:r>
            <a:r>
              <a:rPr sz="2400" b="1" spc="-42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85" dirty="0">
                <a:solidFill>
                  <a:srgbClr val="17120A"/>
                </a:solidFill>
                <a:latin typeface="Verdana"/>
                <a:cs typeface="Verdana"/>
              </a:rPr>
              <a:t>WPM</a:t>
            </a:r>
            <a:r>
              <a:rPr sz="2400" b="1" spc="-38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and</a:t>
            </a:r>
            <a:r>
              <a:rPr sz="2400" spc="-40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17120A"/>
                </a:solidFill>
                <a:latin typeface="Verdana"/>
                <a:cs typeface="Verdana"/>
              </a:rPr>
              <a:t>accuracy,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allowing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17120A"/>
                </a:solidFill>
                <a:latin typeface="Verdana"/>
                <a:cs typeface="Verdana"/>
              </a:rPr>
              <a:t>learners</a:t>
            </a:r>
            <a:r>
              <a:rPr sz="2400" spc="-37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17120A"/>
                </a:solidFill>
                <a:latin typeface="Verdana"/>
                <a:cs typeface="Verdana"/>
              </a:rPr>
              <a:t>to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17120A"/>
                </a:solidFill>
                <a:latin typeface="Verdana"/>
                <a:cs typeface="Verdana"/>
              </a:rPr>
              <a:t>track</a:t>
            </a:r>
            <a:r>
              <a:rPr sz="2400" spc="-4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their</a:t>
            </a:r>
            <a:r>
              <a:rPr sz="2400" spc="-4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17120A"/>
                </a:solidFill>
                <a:latin typeface="Verdana"/>
                <a:cs typeface="Verdana"/>
              </a:rPr>
              <a:t>progress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25" dirty="0">
                <a:solidFill>
                  <a:srgbClr val="17120A"/>
                </a:solidFill>
                <a:latin typeface="Verdana"/>
                <a:cs typeface="Verdana"/>
              </a:rPr>
              <a:t>and </a:t>
            </a: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identify</a:t>
            </a:r>
            <a:r>
              <a:rPr sz="2400" spc="-4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15" dirty="0">
                <a:solidFill>
                  <a:srgbClr val="17120A"/>
                </a:solidFill>
                <a:latin typeface="Verdana"/>
                <a:cs typeface="Verdana"/>
              </a:rPr>
              <a:t>areas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17120A"/>
                </a:solidFill>
                <a:latin typeface="Verdana"/>
                <a:cs typeface="Verdana"/>
              </a:rPr>
              <a:t>for</a:t>
            </a:r>
            <a:r>
              <a:rPr sz="2400" spc="-4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50" dirty="0">
                <a:solidFill>
                  <a:srgbClr val="17120A"/>
                </a:solidFill>
                <a:latin typeface="Verdana"/>
                <a:cs typeface="Verdana"/>
              </a:rPr>
              <a:t>improvement.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65016" y="4216400"/>
            <a:ext cx="5695950" cy="285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55" dirty="0">
                <a:solidFill>
                  <a:srgbClr val="17120A"/>
                </a:solidFill>
                <a:latin typeface="Cambria"/>
                <a:cs typeface="Cambria"/>
              </a:rPr>
              <a:t>Guiding</a:t>
            </a:r>
            <a:r>
              <a:rPr sz="3000" spc="200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105" dirty="0">
                <a:solidFill>
                  <a:srgbClr val="17120A"/>
                </a:solidFill>
                <a:latin typeface="Cambria"/>
                <a:cs typeface="Cambria"/>
              </a:rPr>
              <a:t>Improvement</a:t>
            </a:r>
            <a:endParaRPr sz="3000" dirty="0">
              <a:latin typeface="Cambria"/>
              <a:cs typeface="Cambria"/>
            </a:endParaRPr>
          </a:p>
          <a:p>
            <a:pPr marL="15875" marR="5080">
              <a:lnSpc>
                <a:spcPct val="106800"/>
              </a:lnSpc>
              <a:spcBef>
                <a:spcPts val="3279"/>
              </a:spcBef>
            </a:pPr>
            <a:r>
              <a:rPr sz="2400" spc="-190" dirty="0">
                <a:solidFill>
                  <a:srgbClr val="17120A"/>
                </a:solidFill>
                <a:latin typeface="Verdana"/>
                <a:cs typeface="Verdana"/>
              </a:rPr>
              <a:t>By</a:t>
            </a:r>
            <a:r>
              <a:rPr sz="2400" spc="-44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17120A"/>
                </a:solidFill>
                <a:latin typeface="Verdana"/>
                <a:cs typeface="Verdana"/>
              </a:rPr>
              <a:t>utilizing</a:t>
            </a:r>
            <a:r>
              <a:rPr sz="2400" spc="-36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regression</a:t>
            </a:r>
            <a:r>
              <a:rPr sz="2400" spc="-3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techniques,</a:t>
            </a:r>
            <a:r>
              <a:rPr sz="2400" spc="-44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we</a:t>
            </a:r>
            <a:r>
              <a:rPr sz="2400" spc="-3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7120A"/>
                </a:solidFill>
                <a:latin typeface="Verdana"/>
                <a:cs typeface="Verdana"/>
              </a:rPr>
              <a:t>can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provide</a:t>
            </a:r>
            <a:r>
              <a:rPr sz="2400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tailored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recommendations</a:t>
            </a:r>
            <a:r>
              <a:rPr sz="2400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that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7120A"/>
                </a:solidFill>
                <a:latin typeface="Verdana"/>
                <a:cs typeface="Verdana"/>
              </a:rPr>
              <a:t>help </a:t>
            </a:r>
            <a:r>
              <a:rPr sz="2400" b="1" spc="-280" dirty="0">
                <a:solidFill>
                  <a:srgbClr val="17120A"/>
                </a:solidFill>
                <a:latin typeface="Verdana"/>
                <a:cs typeface="Verdana"/>
              </a:rPr>
              <a:t>enhance</a:t>
            </a:r>
            <a:r>
              <a:rPr sz="2400" b="1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60" dirty="0">
                <a:solidFill>
                  <a:srgbClr val="17120A"/>
                </a:solidFill>
                <a:latin typeface="Verdana"/>
                <a:cs typeface="Verdana"/>
              </a:rPr>
              <a:t>typing</a:t>
            </a:r>
            <a:r>
              <a:rPr sz="2400" b="1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75" dirty="0">
                <a:solidFill>
                  <a:srgbClr val="17120A"/>
                </a:solidFill>
                <a:latin typeface="Verdana"/>
                <a:cs typeface="Verdana"/>
              </a:rPr>
              <a:t>skills</a:t>
            </a:r>
            <a:r>
              <a:rPr sz="2400" spc="-275" dirty="0">
                <a:solidFill>
                  <a:srgbClr val="17120A"/>
                </a:solidFill>
                <a:latin typeface="Verdana"/>
                <a:cs typeface="Verdana"/>
              </a:rPr>
              <a:t>,</a:t>
            </a:r>
            <a:r>
              <a:rPr sz="2400" spc="-40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17120A"/>
                </a:solidFill>
                <a:latin typeface="Verdana"/>
                <a:cs typeface="Verdana"/>
              </a:rPr>
              <a:t>facilitating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continuous</a:t>
            </a:r>
            <a:r>
              <a:rPr sz="2400" spc="-37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10" dirty="0">
                <a:solidFill>
                  <a:srgbClr val="17120A"/>
                </a:solidFill>
                <a:latin typeface="Verdana"/>
                <a:cs typeface="Verdana"/>
              </a:rPr>
              <a:t>growth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rather</a:t>
            </a:r>
            <a:r>
              <a:rPr sz="2400" spc="-4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15" dirty="0">
                <a:solidFill>
                  <a:srgbClr val="17120A"/>
                </a:solidFill>
                <a:latin typeface="Verdana"/>
                <a:cs typeface="Verdana"/>
              </a:rPr>
              <a:t>than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17120A"/>
                </a:solidFill>
                <a:latin typeface="Verdana"/>
                <a:cs typeface="Verdana"/>
              </a:rPr>
              <a:t>merely </a:t>
            </a:r>
            <a:r>
              <a:rPr sz="2400" spc="-190" dirty="0">
                <a:solidFill>
                  <a:srgbClr val="17120A"/>
                </a:solidFill>
                <a:latin typeface="Verdana"/>
                <a:cs typeface="Verdana"/>
              </a:rPr>
              <a:t>assessing</a:t>
            </a:r>
            <a:r>
              <a:rPr sz="2400" spc="-38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65" dirty="0">
                <a:solidFill>
                  <a:srgbClr val="17120A"/>
                </a:solidFill>
                <a:latin typeface="Verdana"/>
                <a:cs typeface="Verdana"/>
              </a:rPr>
              <a:t>the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current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level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17120A"/>
                </a:solidFill>
                <a:latin typeface="Verdana"/>
                <a:cs typeface="Verdana"/>
              </a:rPr>
              <a:t>of</a:t>
            </a:r>
            <a:r>
              <a:rPr sz="2400" spc="-37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7120A"/>
                </a:solidFill>
                <a:latin typeface="Verdana"/>
                <a:cs typeface="Verdana"/>
              </a:rPr>
              <a:t>proficiency.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44432" y="638175"/>
            <a:ext cx="9201150" cy="9010650"/>
            <a:chOff x="8444432" y="638175"/>
            <a:chExt cx="9201150" cy="9010650"/>
          </a:xfrm>
        </p:grpSpPr>
        <p:sp>
          <p:nvSpPr>
            <p:cNvPr id="3" name="object 3"/>
            <p:cNvSpPr/>
            <p:nvPr/>
          </p:nvSpPr>
          <p:spPr>
            <a:xfrm>
              <a:off x="8473008" y="666749"/>
              <a:ext cx="9148445" cy="8953500"/>
            </a:xfrm>
            <a:custGeom>
              <a:avLst/>
              <a:gdLst/>
              <a:ahLst/>
              <a:cxnLst/>
              <a:rect l="l" t="t" r="r" b="b"/>
              <a:pathLst>
                <a:path w="9148444" h="8953500">
                  <a:moveTo>
                    <a:pt x="8767240" y="8953499"/>
                  </a:moveTo>
                  <a:lnTo>
                    <a:pt x="380999" y="8953499"/>
                  </a:lnTo>
                  <a:lnTo>
                    <a:pt x="333208" y="8950530"/>
                  </a:lnTo>
                  <a:lnTo>
                    <a:pt x="287187" y="8941863"/>
                  </a:lnTo>
                  <a:lnTo>
                    <a:pt x="243296" y="8927853"/>
                  </a:lnTo>
                  <a:lnTo>
                    <a:pt x="201889" y="8908859"/>
                  </a:lnTo>
                  <a:lnTo>
                    <a:pt x="163326" y="8885237"/>
                  </a:lnTo>
                  <a:lnTo>
                    <a:pt x="127962" y="8857343"/>
                  </a:lnTo>
                  <a:lnTo>
                    <a:pt x="96155" y="8825536"/>
                  </a:lnTo>
                  <a:lnTo>
                    <a:pt x="68262" y="8790173"/>
                  </a:lnTo>
                  <a:lnTo>
                    <a:pt x="44640" y="8751609"/>
                  </a:lnTo>
                  <a:lnTo>
                    <a:pt x="25645" y="8710203"/>
                  </a:lnTo>
                  <a:lnTo>
                    <a:pt x="11636" y="8666311"/>
                  </a:lnTo>
                  <a:lnTo>
                    <a:pt x="2968" y="8620291"/>
                  </a:lnTo>
                  <a:lnTo>
                    <a:pt x="0" y="8572499"/>
                  </a:lnTo>
                  <a:lnTo>
                    <a:pt x="0" y="380999"/>
                  </a:lnTo>
                  <a:lnTo>
                    <a:pt x="2968" y="333208"/>
                  </a:lnTo>
                  <a:lnTo>
                    <a:pt x="11636" y="287187"/>
                  </a:lnTo>
                  <a:lnTo>
                    <a:pt x="25645" y="243296"/>
                  </a:lnTo>
                  <a:lnTo>
                    <a:pt x="44640" y="201889"/>
                  </a:lnTo>
                  <a:lnTo>
                    <a:pt x="68262" y="163326"/>
                  </a:lnTo>
                  <a:lnTo>
                    <a:pt x="96155" y="127962"/>
                  </a:lnTo>
                  <a:lnTo>
                    <a:pt x="127962" y="96155"/>
                  </a:lnTo>
                  <a:lnTo>
                    <a:pt x="163326" y="68262"/>
                  </a:lnTo>
                  <a:lnTo>
                    <a:pt x="201889" y="44640"/>
                  </a:lnTo>
                  <a:lnTo>
                    <a:pt x="243296" y="25645"/>
                  </a:lnTo>
                  <a:lnTo>
                    <a:pt x="287187" y="11636"/>
                  </a:lnTo>
                  <a:lnTo>
                    <a:pt x="333208" y="2968"/>
                  </a:lnTo>
                  <a:lnTo>
                    <a:pt x="380999" y="0"/>
                  </a:lnTo>
                  <a:lnTo>
                    <a:pt x="8767240" y="0"/>
                  </a:lnTo>
                  <a:lnTo>
                    <a:pt x="8815032" y="2968"/>
                  </a:lnTo>
                  <a:lnTo>
                    <a:pt x="8861052" y="11636"/>
                  </a:lnTo>
                  <a:lnTo>
                    <a:pt x="8904944" y="25645"/>
                  </a:lnTo>
                  <a:lnTo>
                    <a:pt x="8946350" y="44640"/>
                  </a:lnTo>
                  <a:lnTo>
                    <a:pt x="8984914" y="68262"/>
                  </a:lnTo>
                  <a:lnTo>
                    <a:pt x="9020277" y="96155"/>
                  </a:lnTo>
                  <a:lnTo>
                    <a:pt x="9052084" y="127962"/>
                  </a:lnTo>
                  <a:lnTo>
                    <a:pt x="9079978" y="163326"/>
                  </a:lnTo>
                  <a:lnTo>
                    <a:pt x="9103600" y="201889"/>
                  </a:lnTo>
                  <a:lnTo>
                    <a:pt x="9122594" y="243296"/>
                  </a:lnTo>
                  <a:lnTo>
                    <a:pt x="9136604" y="287187"/>
                  </a:lnTo>
                  <a:lnTo>
                    <a:pt x="9145271" y="333208"/>
                  </a:lnTo>
                  <a:lnTo>
                    <a:pt x="9148240" y="380999"/>
                  </a:lnTo>
                  <a:lnTo>
                    <a:pt x="9148240" y="8572499"/>
                  </a:lnTo>
                  <a:lnTo>
                    <a:pt x="9145271" y="8620291"/>
                  </a:lnTo>
                  <a:lnTo>
                    <a:pt x="9136604" y="8666311"/>
                  </a:lnTo>
                  <a:lnTo>
                    <a:pt x="9122594" y="8710203"/>
                  </a:lnTo>
                  <a:lnTo>
                    <a:pt x="9103600" y="8751609"/>
                  </a:lnTo>
                  <a:lnTo>
                    <a:pt x="9079978" y="8790173"/>
                  </a:lnTo>
                  <a:lnTo>
                    <a:pt x="9052084" y="8825536"/>
                  </a:lnTo>
                  <a:lnTo>
                    <a:pt x="9020277" y="8857343"/>
                  </a:lnTo>
                  <a:lnTo>
                    <a:pt x="8984914" y="8885237"/>
                  </a:lnTo>
                  <a:lnTo>
                    <a:pt x="8946350" y="8908859"/>
                  </a:lnTo>
                  <a:lnTo>
                    <a:pt x="8904944" y="8927853"/>
                  </a:lnTo>
                  <a:lnTo>
                    <a:pt x="8861052" y="8941863"/>
                  </a:lnTo>
                  <a:lnTo>
                    <a:pt x="8815032" y="8950530"/>
                  </a:lnTo>
                  <a:lnTo>
                    <a:pt x="8767240" y="8953499"/>
                  </a:lnTo>
                  <a:close/>
                </a:path>
              </a:pathLst>
            </a:custGeom>
            <a:solidFill>
              <a:srgbClr val="E7D9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73007" y="666750"/>
              <a:ext cx="9144000" cy="8953500"/>
            </a:xfrm>
            <a:custGeom>
              <a:avLst/>
              <a:gdLst/>
              <a:ahLst/>
              <a:cxnLst/>
              <a:rect l="l" t="t" r="r" b="b"/>
              <a:pathLst>
                <a:path w="9144000" h="8953500">
                  <a:moveTo>
                    <a:pt x="9143935" y="8627038"/>
                  </a:moveTo>
                  <a:lnTo>
                    <a:pt x="9136610" y="8666302"/>
                  </a:lnTo>
                  <a:lnTo>
                    <a:pt x="9122597" y="8710203"/>
                  </a:lnTo>
                  <a:lnTo>
                    <a:pt x="9103598" y="8751617"/>
                  </a:lnTo>
                  <a:lnTo>
                    <a:pt x="9079969" y="8790187"/>
                  </a:lnTo>
                  <a:lnTo>
                    <a:pt x="9052068" y="8825556"/>
                  </a:lnTo>
                  <a:lnTo>
                    <a:pt x="9020252" y="8857366"/>
                  </a:lnTo>
                  <a:lnTo>
                    <a:pt x="8984879" y="8885260"/>
                  </a:lnTo>
                  <a:lnTo>
                    <a:pt x="8946306" y="8908881"/>
                  </a:lnTo>
                  <a:lnTo>
                    <a:pt x="8904892" y="8927871"/>
                  </a:lnTo>
                  <a:lnTo>
                    <a:pt x="8860992" y="8941875"/>
                  </a:lnTo>
                  <a:lnTo>
                    <a:pt x="8814966" y="8950535"/>
                  </a:lnTo>
                  <a:lnTo>
                    <a:pt x="8767172" y="8953500"/>
                  </a:lnTo>
                  <a:lnTo>
                    <a:pt x="380996" y="8953499"/>
                  </a:lnTo>
                  <a:lnTo>
                    <a:pt x="333200" y="8950529"/>
                  </a:lnTo>
                  <a:lnTo>
                    <a:pt x="287177" y="8941859"/>
                  </a:lnTo>
                  <a:lnTo>
                    <a:pt x="243282" y="8927847"/>
                  </a:lnTo>
                  <a:lnTo>
                    <a:pt x="201874" y="8908849"/>
                  </a:lnTo>
                  <a:lnTo>
                    <a:pt x="163310" y="8885223"/>
                  </a:lnTo>
                  <a:lnTo>
                    <a:pt x="127946" y="8857326"/>
                  </a:lnTo>
                  <a:lnTo>
                    <a:pt x="96140" y="8825515"/>
                  </a:lnTo>
                  <a:lnTo>
                    <a:pt x="68248" y="8790148"/>
                  </a:lnTo>
                  <a:lnTo>
                    <a:pt x="44629" y="8751581"/>
                  </a:lnTo>
                  <a:lnTo>
                    <a:pt x="25637" y="8710172"/>
                  </a:lnTo>
                  <a:lnTo>
                    <a:pt x="11631" y="8666279"/>
                  </a:lnTo>
                  <a:lnTo>
                    <a:pt x="2968" y="8620258"/>
                  </a:lnTo>
                  <a:lnTo>
                    <a:pt x="2" y="8572466"/>
                  </a:lnTo>
                  <a:lnTo>
                    <a:pt x="0" y="381033"/>
                  </a:lnTo>
                  <a:lnTo>
                    <a:pt x="2964" y="333240"/>
                  </a:lnTo>
                  <a:lnTo>
                    <a:pt x="11628" y="287218"/>
                  </a:lnTo>
                  <a:lnTo>
                    <a:pt x="25634" y="243324"/>
                  </a:lnTo>
                  <a:lnTo>
                    <a:pt x="44626" y="201915"/>
                  </a:lnTo>
                  <a:lnTo>
                    <a:pt x="68247" y="163348"/>
                  </a:lnTo>
                  <a:lnTo>
                    <a:pt x="96139" y="127980"/>
                  </a:lnTo>
                  <a:lnTo>
                    <a:pt x="127946" y="96169"/>
                  </a:lnTo>
                  <a:lnTo>
                    <a:pt x="163311" y="68272"/>
                  </a:lnTo>
                  <a:lnTo>
                    <a:pt x="201876" y="44647"/>
                  </a:lnTo>
                  <a:lnTo>
                    <a:pt x="243285" y="25649"/>
                  </a:lnTo>
                  <a:lnTo>
                    <a:pt x="287180" y="11637"/>
                  </a:lnTo>
                  <a:lnTo>
                    <a:pt x="333205" y="2968"/>
                  </a:lnTo>
                  <a:lnTo>
                    <a:pt x="380998" y="0"/>
                  </a:lnTo>
                  <a:lnTo>
                    <a:pt x="8767172" y="0"/>
                  </a:lnTo>
                  <a:lnTo>
                    <a:pt x="8814972" y="2956"/>
                  </a:lnTo>
                  <a:lnTo>
                    <a:pt x="8861000" y="11618"/>
                  </a:lnTo>
                  <a:lnTo>
                    <a:pt x="8904901" y="25624"/>
                  </a:lnTo>
                  <a:lnTo>
                    <a:pt x="8946316" y="44617"/>
                  </a:lnTo>
                  <a:lnTo>
                    <a:pt x="8984889" y="68240"/>
                  </a:lnTo>
                  <a:lnTo>
                    <a:pt x="9020261" y="96137"/>
                  </a:lnTo>
                  <a:lnTo>
                    <a:pt x="9052076" y="127948"/>
                  </a:lnTo>
                  <a:lnTo>
                    <a:pt x="9079976" y="163319"/>
                  </a:lnTo>
                  <a:lnTo>
                    <a:pt x="9103603" y="201890"/>
                  </a:lnTo>
                  <a:lnTo>
                    <a:pt x="9122600" y="243305"/>
                  </a:lnTo>
                  <a:lnTo>
                    <a:pt x="9136610" y="287207"/>
                  </a:lnTo>
                  <a:lnTo>
                    <a:pt x="9143924" y="326463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4049" y="3302001"/>
            <a:ext cx="6200775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</a:pPr>
            <a:r>
              <a:rPr sz="2400" b="1" spc="-290" dirty="0">
                <a:solidFill>
                  <a:srgbClr val="17120A"/>
                </a:solidFill>
                <a:latin typeface="Verdana"/>
                <a:cs typeface="Verdana"/>
              </a:rPr>
              <a:t>Enhancing</a:t>
            </a:r>
            <a:r>
              <a:rPr sz="2400" b="1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90" dirty="0">
                <a:solidFill>
                  <a:srgbClr val="17120A"/>
                </a:solidFill>
                <a:latin typeface="Verdana"/>
                <a:cs typeface="Verdana"/>
              </a:rPr>
              <a:t>learning</a:t>
            </a:r>
            <a:r>
              <a:rPr sz="2400" b="1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95" dirty="0">
                <a:solidFill>
                  <a:srgbClr val="17120A"/>
                </a:solidFill>
                <a:latin typeface="Verdana"/>
                <a:cs typeface="Verdana"/>
              </a:rPr>
              <a:t>through</a:t>
            </a:r>
            <a:r>
              <a:rPr sz="2400" b="1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95" dirty="0">
                <a:solidFill>
                  <a:srgbClr val="17120A"/>
                </a:solidFill>
                <a:latin typeface="Verdana"/>
                <a:cs typeface="Verdana"/>
              </a:rPr>
              <a:t>engaging</a:t>
            </a:r>
            <a:r>
              <a:rPr sz="2400" b="1" spc="-3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b="1" spc="-280" dirty="0">
                <a:solidFill>
                  <a:srgbClr val="17120A"/>
                </a:solidFill>
                <a:latin typeface="Verdana"/>
                <a:cs typeface="Verdana"/>
              </a:rPr>
              <a:t>design </a:t>
            </a:r>
            <a:r>
              <a:rPr sz="2400" b="1" spc="-290" dirty="0">
                <a:solidFill>
                  <a:srgbClr val="17120A"/>
                </a:solidFill>
                <a:latin typeface="Verdana"/>
                <a:cs typeface="Verdana"/>
              </a:rPr>
              <a:t>elements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4049" y="606456"/>
            <a:ext cx="5850890" cy="239712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 marR="5080">
              <a:lnSpc>
                <a:spcPts val="8480"/>
              </a:lnSpc>
              <a:spcBef>
                <a:spcPts val="1814"/>
              </a:spcBef>
            </a:pPr>
            <a:r>
              <a:rPr spc="-30" dirty="0"/>
              <a:t>Gamification </a:t>
            </a:r>
            <a:r>
              <a:rPr spc="-45" dirty="0"/>
              <a:t>Strategies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83700" y="1417637"/>
            <a:ext cx="6527165" cy="14420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000" dirty="0">
                <a:solidFill>
                  <a:srgbClr val="17120A"/>
                </a:solidFill>
                <a:latin typeface="Cambria"/>
                <a:cs typeface="Cambria"/>
              </a:rPr>
              <a:t>XP</a:t>
            </a:r>
            <a:r>
              <a:rPr sz="3000" spc="180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-10" dirty="0">
                <a:solidFill>
                  <a:srgbClr val="17120A"/>
                </a:solidFill>
                <a:latin typeface="Cambria"/>
                <a:cs typeface="Cambria"/>
              </a:rPr>
              <a:t>Levels</a:t>
            </a:r>
            <a:endParaRPr sz="3000" dirty="0">
              <a:latin typeface="Cambria"/>
              <a:cs typeface="Cambria"/>
            </a:endParaRPr>
          </a:p>
          <a:p>
            <a:pPr marL="12700" marR="5080">
              <a:lnSpc>
                <a:spcPct val="106800"/>
              </a:lnSpc>
              <a:spcBef>
                <a:spcPts val="515"/>
              </a:spcBef>
            </a:pP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Experience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points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17120A"/>
                </a:solidFill>
                <a:latin typeface="Verdana"/>
                <a:cs typeface="Verdana"/>
              </a:rPr>
              <a:t>promote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0" dirty="0">
                <a:solidFill>
                  <a:srgbClr val="17120A"/>
                </a:solidFill>
                <a:latin typeface="Verdana"/>
                <a:cs typeface="Verdana"/>
              </a:rPr>
              <a:t>engagement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and</a:t>
            </a:r>
            <a:r>
              <a:rPr sz="2400" spc="-36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17120A"/>
                </a:solidFill>
                <a:latin typeface="Verdana"/>
                <a:cs typeface="Verdana"/>
              </a:rPr>
              <a:t>track </a:t>
            </a:r>
            <a:r>
              <a:rPr sz="2400" spc="-100" dirty="0">
                <a:solidFill>
                  <a:srgbClr val="17120A"/>
                </a:solidFill>
                <a:latin typeface="Verdana"/>
                <a:cs typeface="Verdana"/>
              </a:rPr>
              <a:t>progress.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83700" y="3210242"/>
            <a:ext cx="6508750" cy="3577711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17120A"/>
                </a:solidFill>
                <a:latin typeface="Cambria"/>
                <a:cs typeface="Cambria"/>
              </a:rPr>
              <a:t>Difficulty</a:t>
            </a:r>
            <a:r>
              <a:rPr sz="3000" spc="-95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50" dirty="0">
                <a:solidFill>
                  <a:srgbClr val="17120A"/>
                </a:solidFill>
                <a:latin typeface="Cambria"/>
                <a:cs typeface="Cambria"/>
              </a:rPr>
              <a:t>Scaling</a:t>
            </a:r>
            <a:endParaRPr sz="3000" dirty="0">
              <a:latin typeface="Cambria"/>
              <a:cs typeface="Cambria"/>
            </a:endParaRPr>
          </a:p>
          <a:p>
            <a:pPr marL="12700" marR="878205">
              <a:lnSpc>
                <a:spcPct val="106800"/>
              </a:lnSpc>
              <a:spcBef>
                <a:spcPts val="515"/>
              </a:spcBef>
            </a:pPr>
            <a:r>
              <a:rPr sz="2400" spc="-215" dirty="0">
                <a:solidFill>
                  <a:srgbClr val="17120A"/>
                </a:solidFill>
                <a:latin typeface="Verdana"/>
                <a:cs typeface="Verdana"/>
              </a:rPr>
              <a:t>Adjusting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75" dirty="0">
                <a:solidFill>
                  <a:srgbClr val="17120A"/>
                </a:solidFill>
                <a:latin typeface="Verdana"/>
                <a:cs typeface="Verdana"/>
              </a:rPr>
              <a:t>challenge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levels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35" dirty="0">
                <a:solidFill>
                  <a:srgbClr val="17120A"/>
                </a:solidFill>
                <a:latin typeface="Verdana"/>
                <a:cs typeface="Verdana"/>
              </a:rPr>
              <a:t>maintains</a:t>
            </a:r>
            <a:r>
              <a:rPr sz="2400" spc="-3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65" dirty="0">
                <a:solidFill>
                  <a:srgbClr val="17120A"/>
                </a:solidFill>
                <a:latin typeface="Verdana"/>
                <a:cs typeface="Verdana"/>
              </a:rPr>
              <a:t>learner </a:t>
            </a:r>
            <a:r>
              <a:rPr sz="2400" spc="-220" dirty="0">
                <a:solidFill>
                  <a:srgbClr val="17120A"/>
                </a:solidFill>
                <a:latin typeface="Verdana"/>
                <a:cs typeface="Verdana"/>
              </a:rPr>
              <a:t>motivation</a:t>
            </a:r>
            <a:r>
              <a:rPr sz="2400" spc="-33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7120A"/>
                </a:solidFill>
                <a:latin typeface="Verdana"/>
                <a:cs typeface="Verdana"/>
              </a:rPr>
              <a:t>effectively.</a:t>
            </a:r>
            <a:endParaRPr sz="2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3000" spc="75" dirty="0">
                <a:solidFill>
                  <a:srgbClr val="17120A"/>
                </a:solidFill>
                <a:latin typeface="Cambria"/>
                <a:cs typeface="Cambria"/>
              </a:rPr>
              <a:t>Feedback</a:t>
            </a:r>
            <a:r>
              <a:rPr sz="3000" spc="160" dirty="0">
                <a:solidFill>
                  <a:srgbClr val="17120A"/>
                </a:solidFill>
                <a:latin typeface="Cambria"/>
                <a:cs typeface="Cambria"/>
              </a:rPr>
              <a:t> </a:t>
            </a:r>
            <a:r>
              <a:rPr sz="3000" spc="-10" dirty="0">
                <a:solidFill>
                  <a:srgbClr val="17120A"/>
                </a:solidFill>
                <a:latin typeface="Cambria"/>
                <a:cs typeface="Cambria"/>
              </a:rPr>
              <a:t>Mechanisms</a:t>
            </a:r>
            <a:endParaRPr sz="3000" dirty="0">
              <a:latin typeface="Cambria"/>
              <a:cs typeface="Cambria"/>
            </a:endParaRPr>
          </a:p>
          <a:p>
            <a:pPr marL="12700" marR="582295">
              <a:lnSpc>
                <a:spcPct val="106800"/>
              </a:lnSpc>
              <a:spcBef>
                <a:spcPts val="515"/>
              </a:spcBef>
            </a:pP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Positive</a:t>
            </a:r>
            <a:r>
              <a:rPr sz="2400" spc="-33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95" dirty="0">
                <a:solidFill>
                  <a:srgbClr val="17120A"/>
                </a:solidFill>
                <a:latin typeface="Verdana"/>
                <a:cs typeface="Verdana"/>
              </a:rPr>
              <a:t>reinforcement</a:t>
            </a:r>
            <a:r>
              <a:rPr sz="2400" spc="-33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17120A"/>
                </a:solidFill>
                <a:latin typeface="Verdana"/>
                <a:cs typeface="Verdana"/>
              </a:rPr>
              <a:t>triggers</a:t>
            </a:r>
            <a:r>
              <a:rPr sz="2400" spc="-33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17120A"/>
                </a:solidFill>
                <a:latin typeface="Verdana"/>
                <a:cs typeface="Verdana"/>
              </a:rPr>
              <a:t>dopamine</a:t>
            </a:r>
            <a:r>
              <a:rPr sz="2400" spc="-33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17120A"/>
                </a:solidFill>
                <a:latin typeface="Verdana"/>
                <a:cs typeface="Verdana"/>
              </a:rPr>
              <a:t>and </a:t>
            </a:r>
            <a:r>
              <a:rPr sz="2400" spc="-180" dirty="0">
                <a:solidFill>
                  <a:srgbClr val="17120A"/>
                </a:solidFill>
                <a:latin typeface="Verdana"/>
                <a:cs typeface="Verdana"/>
              </a:rPr>
              <a:t>encourages</a:t>
            </a:r>
            <a:r>
              <a:rPr sz="2400" spc="-33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7120A"/>
                </a:solidFill>
                <a:latin typeface="Verdana"/>
                <a:cs typeface="Verdana"/>
              </a:rPr>
              <a:t>persistence.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07509"/>
            <a:ext cx="2756727" cy="367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02595" y="0"/>
            <a:ext cx="8185784" cy="10287000"/>
            <a:chOff x="10102595" y="0"/>
            <a:chExt cx="8185784" cy="10287000"/>
          </a:xfrm>
        </p:grpSpPr>
        <p:sp>
          <p:nvSpPr>
            <p:cNvPr id="3" name="object 3"/>
            <p:cNvSpPr/>
            <p:nvPr/>
          </p:nvSpPr>
          <p:spPr>
            <a:xfrm>
              <a:off x="10102595" y="0"/>
              <a:ext cx="8185784" cy="10287000"/>
            </a:xfrm>
            <a:custGeom>
              <a:avLst/>
              <a:gdLst/>
              <a:ahLst/>
              <a:cxnLst/>
              <a:rect l="l" t="t" r="r" b="b"/>
              <a:pathLst>
                <a:path w="8185784" h="10287000">
                  <a:moveTo>
                    <a:pt x="8185403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8185403" y="0"/>
                  </a:lnTo>
                  <a:lnTo>
                    <a:pt x="8185403" y="10286999"/>
                  </a:lnTo>
                  <a:close/>
                </a:path>
              </a:pathLst>
            </a:custGeom>
            <a:solidFill>
              <a:srgbClr val="7566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1698" y="9195"/>
              <a:ext cx="1429709" cy="131286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36711" y="2800277"/>
            <a:ext cx="548195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120A"/>
                </a:solidFill>
              </a:rPr>
              <a:t>Thank</a:t>
            </a:r>
            <a:r>
              <a:rPr spc="-210" dirty="0">
                <a:solidFill>
                  <a:srgbClr val="17120A"/>
                </a:solidFill>
              </a:rPr>
              <a:t> </a:t>
            </a:r>
            <a:r>
              <a:rPr dirty="0">
                <a:solidFill>
                  <a:srgbClr val="17120A"/>
                </a:solidFill>
              </a:rPr>
              <a:t>you</a:t>
            </a:r>
            <a:r>
              <a:rPr spc="-204" dirty="0">
                <a:solidFill>
                  <a:srgbClr val="17120A"/>
                </a:solidFill>
              </a:rPr>
              <a:t> </a:t>
            </a:r>
            <a:r>
              <a:rPr spc="265" dirty="0">
                <a:solidFill>
                  <a:srgbClr val="17120A"/>
                </a:solidFill>
              </a:rPr>
              <a:t>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485" y="6099191"/>
            <a:ext cx="5712460" cy="3092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b="1" spc="-445" dirty="0">
                <a:solidFill>
                  <a:srgbClr val="17120A"/>
                </a:solidFill>
                <a:latin typeface="Verdana"/>
                <a:cs typeface="Verdana"/>
              </a:rPr>
              <a:t>presented</a:t>
            </a:r>
            <a:r>
              <a:rPr sz="4250" b="1" spc="-63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4250" b="1" spc="-425" dirty="0">
                <a:solidFill>
                  <a:srgbClr val="17120A"/>
                </a:solidFill>
                <a:latin typeface="Verdana"/>
                <a:cs typeface="Verdana"/>
              </a:rPr>
              <a:t>by</a:t>
            </a:r>
            <a:r>
              <a:rPr sz="4250" b="1" spc="-75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4250" b="1" spc="-790" dirty="0">
                <a:solidFill>
                  <a:srgbClr val="17120A"/>
                </a:solidFill>
                <a:latin typeface="Verdana"/>
                <a:cs typeface="Verdana"/>
              </a:rPr>
              <a:t>:</a:t>
            </a:r>
            <a:endParaRPr sz="4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95"/>
              </a:spcBef>
            </a:pPr>
            <a:r>
              <a:rPr sz="2900" b="1" spc="-350" dirty="0">
                <a:solidFill>
                  <a:srgbClr val="17120A"/>
                </a:solidFill>
                <a:latin typeface="Verdana"/>
                <a:cs typeface="Verdana"/>
              </a:rPr>
              <a:t>Network</a:t>
            </a:r>
            <a:r>
              <a:rPr sz="2900" b="1" spc="-50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b="1" spc="-330" dirty="0">
                <a:solidFill>
                  <a:srgbClr val="17120A"/>
                </a:solidFill>
                <a:latin typeface="Verdana"/>
                <a:cs typeface="Verdana"/>
              </a:rPr>
              <a:t>department</a:t>
            </a:r>
            <a:endParaRPr sz="2900">
              <a:latin typeface="Verdana"/>
              <a:cs typeface="Verdana"/>
            </a:endParaRPr>
          </a:p>
          <a:p>
            <a:pPr marL="12700" marR="5080">
              <a:lnSpc>
                <a:spcPts val="3750"/>
              </a:lnSpc>
              <a:spcBef>
                <a:spcPts val="100"/>
              </a:spcBef>
            </a:pPr>
            <a:r>
              <a:rPr sz="2900" spc="-180" dirty="0">
                <a:solidFill>
                  <a:srgbClr val="17120A"/>
                </a:solidFill>
                <a:latin typeface="Verdana"/>
                <a:cs typeface="Verdana"/>
              </a:rPr>
              <a:t>Abd</a:t>
            </a:r>
            <a:r>
              <a:rPr sz="2900" spc="-5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229" dirty="0">
                <a:solidFill>
                  <a:srgbClr val="17120A"/>
                </a:solidFill>
                <a:latin typeface="Verdana"/>
                <a:cs typeface="Verdana"/>
              </a:rPr>
              <a:t>AL-Hameed</a:t>
            </a:r>
            <a:r>
              <a:rPr sz="2900" spc="-459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240" dirty="0">
                <a:solidFill>
                  <a:srgbClr val="17120A"/>
                </a:solidFill>
                <a:latin typeface="Verdana"/>
                <a:cs typeface="Verdana"/>
              </a:rPr>
              <a:t>Mohammed</a:t>
            </a:r>
            <a:r>
              <a:rPr sz="2900" spc="-55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265" dirty="0">
                <a:solidFill>
                  <a:srgbClr val="17120A"/>
                </a:solidFill>
                <a:latin typeface="Verdana"/>
                <a:cs typeface="Verdana"/>
              </a:rPr>
              <a:t>Younis </a:t>
            </a:r>
            <a:r>
              <a:rPr sz="2900" spc="-240" dirty="0">
                <a:solidFill>
                  <a:srgbClr val="17120A"/>
                </a:solidFill>
                <a:latin typeface="Verdana"/>
                <a:cs typeface="Verdana"/>
              </a:rPr>
              <a:t>Mohammed</a:t>
            </a:r>
            <a:r>
              <a:rPr sz="2900" spc="-51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245" dirty="0">
                <a:solidFill>
                  <a:srgbClr val="17120A"/>
                </a:solidFill>
                <a:latin typeface="Verdana"/>
                <a:cs typeface="Verdana"/>
              </a:rPr>
              <a:t>Abdul-</a:t>
            </a:r>
            <a:r>
              <a:rPr sz="2900" spc="-155" dirty="0">
                <a:solidFill>
                  <a:srgbClr val="17120A"/>
                </a:solidFill>
                <a:latin typeface="Verdana"/>
                <a:cs typeface="Verdana"/>
              </a:rPr>
              <a:t>Jabbar</a:t>
            </a:r>
            <a:r>
              <a:rPr sz="2900" spc="-51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300" dirty="0">
                <a:solidFill>
                  <a:srgbClr val="17120A"/>
                </a:solidFill>
                <a:latin typeface="Verdana"/>
                <a:cs typeface="Verdana"/>
              </a:rPr>
              <a:t>Faraj </a:t>
            </a:r>
            <a:r>
              <a:rPr sz="2900" spc="-240" dirty="0">
                <a:solidFill>
                  <a:srgbClr val="17120A"/>
                </a:solidFill>
                <a:latin typeface="Verdana"/>
                <a:cs typeface="Verdana"/>
              </a:rPr>
              <a:t>Mohammed</a:t>
            </a:r>
            <a:r>
              <a:rPr sz="2900" spc="-445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195" dirty="0">
                <a:solidFill>
                  <a:srgbClr val="17120A"/>
                </a:solidFill>
                <a:latin typeface="Verdana"/>
                <a:cs typeface="Verdana"/>
              </a:rPr>
              <a:t>Mustafa</a:t>
            </a:r>
            <a:r>
              <a:rPr sz="2900" spc="-440" dirty="0">
                <a:solidFill>
                  <a:srgbClr val="17120A"/>
                </a:solidFill>
                <a:latin typeface="Verdana"/>
                <a:cs typeface="Verdana"/>
              </a:rPr>
              <a:t> </a:t>
            </a:r>
            <a:r>
              <a:rPr sz="2900" spc="-275" dirty="0">
                <a:solidFill>
                  <a:srgbClr val="17120A"/>
                </a:solidFill>
                <a:latin typeface="Verdana"/>
                <a:cs typeface="Verdana"/>
              </a:rPr>
              <a:t>Sameer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147D97-AD0C-9391-C17F-61659D1CE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787" y="1638300"/>
            <a:ext cx="7239399" cy="70104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317</Words>
  <Application>Microsoft Office PowerPoint</Application>
  <PresentationFormat>Custom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Cambria</vt:lpstr>
      <vt:lpstr>Verdana</vt:lpstr>
      <vt:lpstr>Office Theme</vt:lpstr>
      <vt:lpstr>Adaptive Typing Systems</vt:lpstr>
      <vt:lpstr>HCI Roles in Typing</vt:lpstr>
      <vt:lpstr>Cognitive Skill Acquisition</vt:lpstr>
      <vt:lpstr>Performance Metrics in Typing</vt:lpstr>
      <vt:lpstr>Machine Learning for Skill Classification</vt:lpstr>
      <vt:lpstr>Regression for Performance Prediction</vt:lpstr>
      <vt:lpstr>Gamification Strategies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Adaptive Typing Systems</dc:title>
  <dc:creator>ABDULHAMEED</dc:creator>
  <cp:keywords>DAG7H-XyqxE,BAG56qKnGhY,0</cp:keywords>
  <cp:lastModifiedBy>ABDULHAMEED O_O</cp:lastModifiedBy>
  <cp:revision>2</cp:revision>
  <dcterms:created xsi:type="dcterms:W3CDTF">2025-12-10T16:27:57Z</dcterms:created>
  <dcterms:modified xsi:type="dcterms:W3CDTF">2025-12-11T02:30:08Z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2025-12-10T00:00:00Z</vt:filetime>
  </property>
  <property fmtid="{D5CDD505-2E9C-101B-9397-08002B2CF9AE}" pid="5" name="Producer">
    <vt:lpwstr>Canva</vt:lpwstr>
  </property>
</Properties>
</file>